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76" r:id="rId4"/>
    <p:sldId id="258" r:id="rId5"/>
    <p:sldId id="259" r:id="rId6"/>
    <p:sldId id="279" r:id="rId7"/>
    <p:sldId id="260" r:id="rId8"/>
    <p:sldId id="298" r:id="rId9"/>
    <p:sldId id="299" r:id="rId10"/>
    <p:sldId id="261" r:id="rId11"/>
    <p:sldId id="262" r:id="rId12"/>
    <p:sldId id="263" r:id="rId13"/>
    <p:sldId id="282" r:id="rId14"/>
    <p:sldId id="283" r:id="rId15"/>
    <p:sldId id="284" r:id="rId16"/>
    <p:sldId id="264" r:id="rId17"/>
    <p:sldId id="265" r:id="rId18"/>
    <p:sldId id="266" r:id="rId19"/>
    <p:sldId id="285" r:id="rId20"/>
    <p:sldId id="286" r:id="rId21"/>
    <p:sldId id="267" r:id="rId22"/>
    <p:sldId id="287" r:id="rId23"/>
    <p:sldId id="288" r:id="rId24"/>
    <p:sldId id="289" r:id="rId25"/>
    <p:sldId id="290" r:id="rId26"/>
    <p:sldId id="291" r:id="rId27"/>
    <p:sldId id="292" r:id="rId28"/>
    <p:sldId id="293" r:id="rId29"/>
    <p:sldId id="294" r:id="rId30"/>
    <p:sldId id="295" r:id="rId31"/>
    <p:sldId id="296" r:id="rId32"/>
    <p:sldId id="297" r:id="rId33"/>
    <p:sldId id="277" r:id="rId34"/>
    <p:sldId id="301" r:id="rId35"/>
    <p:sldId id="274" r:id="rId3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3347"/>
    <a:srgbClr val="66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199" autoAdjust="0"/>
  </p:normalViewPr>
  <p:slideViewPr>
    <p:cSldViewPr snapToGrid="0">
      <p:cViewPr varScale="1">
        <p:scale>
          <a:sx n="98" d="100"/>
          <a:sy n="98" d="100"/>
        </p:scale>
        <p:origin x="103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D7DDE6-3BED-42B5-9308-F02BDE3995D0}" type="datetimeFigureOut">
              <a:rPr lang="ru-RU" smtClean="0"/>
              <a:t>17.06.2025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6195B2-C33F-4753-BF47-8E3460E132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2888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195B2-C33F-4753-BF47-8E3460E1328A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80815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195B2-C33F-4753-BF47-8E3460E1328A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44733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Для разработки было использовано</a:t>
            </a:r>
            <a:r>
              <a:rPr lang="en-US" dirty="0"/>
              <a:t>:</a:t>
            </a:r>
          </a:p>
          <a:p>
            <a:r>
              <a:rPr lang="ru-RU" dirty="0"/>
              <a:t>Для серверной части</a:t>
            </a:r>
            <a:r>
              <a:rPr lang="en-US" dirty="0"/>
              <a:t>:</a:t>
            </a:r>
            <a:br>
              <a:rPr lang="en-US" dirty="0"/>
            </a:br>
            <a:r>
              <a:rPr lang="en-US" b="1" i="0" dirty="0">
                <a:solidFill>
                  <a:srgbClr val="BDC1C6"/>
                </a:solidFill>
                <a:effectLst/>
                <a:latin typeface="arial" panose="020B0604020202020204" pitchFamily="34" charset="0"/>
              </a:rPr>
              <a:t>Laravel </a:t>
            </a:r>
            <a:r>
              <a:rPr lang="en-US" b="0" i="0" dirty="0">
                <a:solidFill>
                  <a:srgbClr val="BDC1C6"/>
                </a:solidFill>
                <a:effectLst/>
                <a:latin typeface="arial" panose="020B0604020202020204" pitchFamily="34" charset="0"/>
              </a:rPr>
              <a:t>— PHP </a:t>
            </a:r>
            <a:r>
              <a:rPr lang="ru-RU" b="0" i="0" dirty="0">
                <a:solidFill>
                  <a:srgbClr val="BDC1C6"/>
                </a:solidFill>
                <a:effectLst/>
                <a:latin typeface="arial" panose="020B0604020202020204" pitchFamily="34" charset="0"/>
              </a:rPr>
              <a:t>веб-фреймворк</a:t>
            </a:r>
            <a:r>
              <a:rPr lang="en-US" b="0" i="0" dirty="0">
                <a:solidFill>
                  <a:srgbClr val="BDC1C6"/>
                </a:solidFill>
                <a:effectLst/>
                <a:latin typeface="arial" panose="020B0604020202020204" pitchFamily="34" charset="0"/>
              </a:rPr>
              <a:t> c </a:t>
            </a:r>
            <a:r>
              <a:rPr lang="ru-RU" b="0" i="0" dirty="0">
                <a:solidFill>
                  <a:srgbClr val="BDC1C6"/>
                </a:solidFill>
                <a:effectLst/>
                <a:latin typeface="arial" panose="020B0604020202020204" pitchFamily="34" charset="0"/>
              </a:rPr>
              <a:t>архитектурной модели </a:t>
            </a:r>
            <a:r>
              <a:rPr lang="en-US" b="0" i="0" dirty="0">
                <a:solidFill>
                  <a:srgbClr val="BDC1C6"/>
                </a:solidFill>
                <a:effectLst/>
                <a:latin typeface="arial" panose="020B0604020202020204" pitchFamily="34" charset="0"/>
              </a:rPr>
              <a:t>MVC (</a:t>
            </a:r>
            <a:r>
              <a:rPr lang="ru-RU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модель-представление-контроллер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)</a:t>
            </a:r>
            <a:r>
              <a:rPr lang="ru-RU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r>
              <a:rPr lang="en-US" b="1" dirty="0" err="1"/>
              <a:t>MySql</a:t>
            </a:r>
            <a:r>
              <a:rPr lang="en-US" dirty="0"/>
              <a:t> - </a:t>
            </a:r>
            <a:r>
              <a:rPr lang="ru-RU" dirty="0"/>
              <a:t>реляционная система управления базами данных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i="0" dirty="0">
                <a:solidFill>
                  <a:srgbClr val="BDC1C6"/>
                </a:solidFill>
                <a:effectLst/>
                <a:latin typeface="arial" panose="020B0604020202020204" pitchFamily="34" charset="0"/>
              </a:rPr>
              <a:t>PHP </a:t>
            </a:r>
            <a:r>
              <a:rPr lang="en-US" b="0" i="0" dirty="0">
                <a:solidFill>
                  <a:srgbClr val="BDC1C6"/>
                </a:solidFill>
                <a:effectLst/>
                <a:latin typeface="arial" panose="020B0604020202020204" pitchFamily="34" charset="0"/>
              </a:rPr>
              <a:t>— </a:t>
            </a:r>
            <a:r>
              <a:rPr lang="ru-RU" b="0" i="0" dirty="0" err="1">
                <a:solidFill>
                  <a:srgbClr val="BDC1C6"/>
                </a:solidFill>
                <a:effectLst/>
                <a:latin typeface="arial" panose="020B0604020202020204" pitchFamily="34" charset="0"/>
              </a:rPr>
              <a:t>Cи</a:t>
            </a:r>
            <a:r>
              <a:rPr lang="ru-RU" b="0" i="0" dirty="0">
                <a:solidFill>
                  <a:srgbClr val="BDC1C6"/>
                </a:solidFill>
                <a:effectLst/>
                <a:latin typeface="arial" panose="020B0604020202020204" pitchFamily="34" charset="0"/>
              </a:rPr>
              <a:t>-подобный скриптовый язык общего назначения.</a:t>
            </a:r>
            <a:endParaRPr lang="en-US" b="0" i="0" dirty="0">
              <a:solidFill>
                <a:srgbClr val="BDC1C6"/>
              </a:solidFill>
              <a:effectLst/>
              <a:latin typeface="arial" panose="020B0604020202020204" pitchFamily="34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195B2-C33F-4753-BF47-8E3460E1328A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0681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СЕРВИС СИНХРОНИЗАЦИИ КАРТИНОК «</a:t>
            </a:r>
            <a:r>
              <a:rPr lang="en-US" dirty="0"/>
              <a:t>PICSYNC»</a:t>
            </a:r>
            <a:r>
              <a:rPr lang="ru-RU" dirty="0"/>
              <a:t> сам по себе самобытен и мог бы обойтись без административной части, но раз уж есть функция делиться альбомами и картинками, то такой материал необходимо модерировать, в следствие чего был разработан следующий функционал администратора, включающий в себя настройку параметров сервера, работу с жалобами, а также выдачей предупреждений, удаление контента.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195B2-C33F-4753-BF47-8E3460E1328A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02884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0D382-58B7-54EE-2FE3-6FABF8039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EAA5BCD-6884-8D89-D937-F6CE6C1DDC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E8946D0-9ABA-767B-865A-4703F4CEBE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СЕРВИС СИНХРОНИЗАЦИИ КАРТИНОК «</a:t>
            </a:r>
            <a:r>
              <a:rPr lang="en-US" dirty="0"/>
              <a:t>PICSYNC»</a:t>
            </a:r>
            <a:r>
              <a:rPr lang="ru-RU" dirty="0"/>
              <a:t> сам по себе самобытен и мог бы обойтись без административной части, но раз уж есть функция делиться альбомами и картинками, то такой материал необходимо модерировать, в следствие чего был разработан следующий функционал администратора, включающий в себя настройку параметров сервера, работу с жалобами, а также выдачей предупреждений, удаление контента.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1665E52-98EE-C882-8408-7E57F005B2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195B2-C33F-4753-BF47-8E3460E1328A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80627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3C27B-F452-9D80-2CC1-72D58A5B6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88E6D22-7469-738D-532E-737C55CCDE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535C7DC-337D-E96A-92DE-F61021417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слайде представлена концептуальная модель БД.</a:t>
            </a:r>
          </a:p>
          <a:p>
            <a:r>
              <a:rPr lang="ru-RU" dirty="0"/>
              <a:t>Для администрирования контента в БД были добавлены следующие сущности и атрибуты</a:t>
            </a:r>
            <a:r>
              <a:rPr lang="en-US" dirty="0"/>
              <a:t>:</a:t>
            </a:r>
            <a:br>
              <a:rPr lang="en-US" dirty="0"/>
            </a:br>
            <a:r>
              <a:rPr lang="ru-RU" dirty="0"/>
              <a:t>у пользователя такие поля как – состояние бана, количество жалоб</a:t>
            </a:r>
            <a:br>
              <a:rPr lang="ru-RU" dirty="0"/>
            </a:br>
            <a:r>
              <a:rPr lang="ru-RU" dirty="0"/>
              <a:t>а также так</a:t>
            </a:r>
            <a:r>
              <a:rPr lang="en-US" dirty="0"/>
              <a:t> </a:t>
            </a:r>
            <a:r>
              <a:rPr lang="ru-RU" dirty="0"/>
              <a:t>же сущности жалоба, тип жалобы, предупреждения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F6C3E69-98B5-40CB-C967-7F56995426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195B2-C33F-4753-BF47-8E3460E1328A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70133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99CAE-6082-6EB0-55DF-F3166A76A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BB239E2-0D09-CDF9-290B-9113CF69F1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94FBEDF-D9B1-63FA-A8F6-A4EA6F01CB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Это логическая модель и она приведена в третью нормальную форму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7424829-8630-DFAF-C88F-A161BF0AF8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195B2-C33F-4753-BF47-8E3460E1328A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24542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046D3-8A02-561E-F603-9124E56E5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B08AEEB-1383-EC67-ABE0-A89D60D4CB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F6789F4-5F15-DAFC-C1EE-C5B2914A5A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Это логическая модель и она приведена в третью нормальную форму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7DE1BDE-3BA3-189E-DA82-46F404506F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195B2-C33F-4753-BF47-8E3460E1328A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94760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8022A-7235-9917-84A7-19ED15BA7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360188C-248F-F0BB-02E8-ED2FC90F6F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3E6EECA-D6E5-4A9C-C464-DA448A27A4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Проанализировав функционал были разработаны следующие макеты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7048AFD-C57E-12B5-DC6D-2772A75A4E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195B2-C33F-4753-BF47-8E3460E1328A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38893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EFEB9-FD19-EBE2-DCC0-8FBDEC3A4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D951C54-DBA4-1BA7-2185-CD24D05588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C0664F5-0912-8AFF-418E-CC7FEEF379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ru-RU" b="1" dirty="0"/>
              <a:t>Главная страница</a:t>
            </a:r>
            <a:endParaRPr lang="ru-RU" dirty="0"/>
          </a:p>
          <a:p>
            <a:pPr marL="742950" lvl="1" indent="-285750">
              <a:buFont typeface="+mj-lt"/>
              <a:buAutoNum type="arabicPeriod"/>
            </a:pPr>
            <a:r>
              <a:rPr lang="ru-RU" dirty="0"/>
              <a:t>Информация об использованном пространстве и кнопка обновления жалоб.</a:t>
            </a:r>
          </a:p>
          <a:p>
            <a:pPr marL="742950" lvl="1" indent="-285750">
              <a:buFont typeface="+mj-lt"/>
              <a:buAutoNum type="arabicPeriod"/>
            </a:pPr>
            <a:r>
              <a:rPr lang="ru-RU" dirty="0"/>
              <a:t>Список нерассмотренных жалоб, отсортированных по альбомам.</a:t>
            </a:r>
          </a:p>
          <a:p>
            <a:pPr marL="742950" lvl="1" indent="-285750">
              <a:buFont typeface="+mj-lt"/>
              <a:buAutoNum type="arabicPeriod"/>
            </a:pPr>
            <a:r>
              <a:rPr lang="ru-RU" dirty="0"/>
              <a:t>Возможность просматривать жалобы внутри альбома.</a:t>
            </a:r>
          </a:p>
          <a:p>
            <a:pPr marL="742950" lvl="1" indent="-285750">
              <a:buFont typeface="+mj-lt"/>
              <a:buAutoNum type="arabicPeriod"/>
            </a:pPr>
            <a:r>
              <a:rPr lang="ru-RU" dirty="0"/>
              <a:t>Функция </a:t>
            </a:r>
            <a:r>
              <a:rPr lang="ru-RU" dirty="0" err="1"/>
              <a:t>подгрузки</a:t>
            </a:r>
            <a:r>
              <a:rPr lang="ru-RU" dirty="0"/>
              <a:t> дополнительных альбомов.</a:t>
            </a:r>
          </a:p>
          <a:p>
            <a:pPr>
              <a:buFont typeface="+mj-lt"/>
              <a:buAutoNum type="arabicPeriod"/>
            </a:pPr>
            <a:r>
              <a:rPr lang="ru-RU" b="1" dirty="0"/>
              <a:t>Просмотр жалоб</a:t>
            </a:r>
            <a:endParaRPr lang="ru-RU" dirty="0"/>
          </a:p>
          <a:p>
            <a:pPr marL="742950" lvl="1" indent="-285750">
              <a:buFont typeface="+mj-lt"/>
              <a:buAutoNum type="arabicPeriod"/>
            </a:pPr>
            <a:r>
              <a:rPr lang="ru-RU" dirty="0"/>
              <a:t>Подробная информация об альбоме и его владельце.</a:t>
            </a:r>
          </a:p>
          <a:p>
            <a:pPr marL="742950" lvl="1" indent="-285750">
              <a:buFont typeface="+mj-lt"/>
              <a:buAutoNum type="arabicPeriod"/>
            </a:pPr>
            <a:r>
              <a:rPr lang="ru-RU" dirty="0"/>
              <a:t>Список изображений, отсортированных по количеству жалоб.</a:t>
            </a:r>
          </a:p>
          <a:p>
            <a:pPr marL="742950" lvl="1" indent="-285750">
              <a:buFont typeface="+mj-lt"/>
              <a:buAutoNum type="arabicPeriod"/>
            </a:pPr>
            <a:r>
              <a:rPr lang="ru-RU" dirty="0"/>
              <a:t>Возможность предпросмотра изображений с функцией масштабирования.</a:t>
            </a:r>
          </a:p>
          <a:p>
            <a:pPr marL="742950" lvl="1" indent="-285750">
              <a:buFont typeface="+mj-lt"/>
              <a:buAutoNum type="arabicPeriod"/>
            </a:pPr>
            <a:r>
              <a:rPr lang="ru-RU" dirty="0"/>
              <a:t>Кнопки для создания предупреждения или блокировки пользователя.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5F05DA7-A0F4-041C-CB78-A7B44439EE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195B2-C33F-4753-BF47-8E3460E1328A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35278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F7719-6CCF-52BF-EA4C-128533ECB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AA7456E-6F7C-082B-D2AD-15874656F1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D7287AC-7A2E-3CD0-A36E-EF8C2743E8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ru-RU" b="1" dirty="0"/>
              <a:t>Настройки</a:t>
            </a:r>
            <a:endParaRPr lang="ru-RU" dirty="0"/>
          </a:p>
          <a:p>
            <a:pPr marL="742950" lvl="1" indent="-285750">
              <a:buFont typeface="+mj-lt"/>
              <a:buAutoNum type="arabicPeriod"/>
            </a:pPr>
            <a:r>
              <a:rPr lang="ru-RU" dirty="0"/>
              <a:t>Данные о доступном и использованном пространстве сервера.</a:t>
            </a:r>
          </a:p>
          <a:p>
            <a:pPr marL="742950" lvl="1" indent="-285750">
              <a:buFont typeface="+mj-lt"/>
              <a:buAutoNum type="arabicPeriod"/>
            </a:pPr>
            <a:r>
              <a:rPr lang="ru-RU" dirty="0"/>
              <a:t>Управление параметрами блокировки загрузок при превышении лимита.</a:t>
            </a:r>
          </a:p>
          <a:p>
            <a:pPr marL="742950" lvl="1" indent="-285750">
              <a:buFont typeface="+mj-lt"/>
              <a:buAutoNum type="arabicPeriod"/>
            </a:pPr>
            <a:r>
              <a:rPr lang="ru-RU" dirty="0"/>
              <a:t>Настройка допустимых форматов и размеров изображений.</a:t>
            </a:r>
          </a:p>
          <a:p>
            <a:pPr marL="742950" lvl="1" indent="-285750">
              <a:buFont typeface="+mj-lt"/>
              <a:buAutoNum type="arabicPeriod"/>
            </a:pPr>
            <a:r>
              <a:rPr lang="ru-RU" dirty="0"/>
              <a:t>Функция сохранения изменений.</a:t>
            </a:r>
          </a:p>
          <a:p>
            <a:pPr>
              <a:buFont typeface="+mj-lt"/>
              <a:buAutoNum type="arabicPeriod"/>
            </a:pPr>
            <a:r>
              <a:rPr lang="ru-RU" b="1" dirty="0"/>
              <a:t>Профиль администратора</a:t>
            </a:r>
            <a:endParaRPr lang="ru-RU" dirty="0"/>
          </a:p>
          <a:p>
            <a:pPr marL="742950" lvl="1" indent="-285750">
              <a:buFont typeface="+mj-lt"/>
              <a:buAutoNum type="arabicPeriod"/>
            </a:pPr>
            <a:r>
              <a:rPr lang="ru-RU" dirty="0"/>
              <a:t>Редактирование никнейма, логина и пароля.</a:t>
            </a:r>
          </a:p>
          <a:p>
            <a:pPr marL="742950" lvl="1" indent="-285750">
              <a:buFont typeface="+mj-lt"/>
              <a:buAutoNum type="arabicPeriod"/>
            </a:pPr>
            <a:r>
              <a:rPr lang="ru-RU" dirty="0"/>
              <a:t>Возможность выхода из аккаунта с возвратом к выбору сервера.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A538A0F-6BA7-D7EA-065B-65DFCD65AC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195B2-C33F-4753-BF47-8E3460E1328A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82354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02381-8F05-F6B3-3A08-209CD7155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A73D01B-B141-2779-575F-AD2B4409F0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E55B451-292F-2D84-0974-5333210F26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ru-RU" b="1" dirty="0"/>
              <a:t>Настройки</a:t>
            </a:r>
            <a:endParaRPr lang="ru-RU" dirty="0"/>
          </a:p>
          <a:p>
            <a:pPr marL="742950" lvl="1" indent="-285750">
              <a:buFont typeface="+mj-lt"/>
              <a:buAutoNum type="arabicPeriod"/>
            </a:pPr>
            <a:r>
              <a:rPr lang="ru-RU" dirty="0"/>
              <a:t>Данные о доступном и использованном пространстве сервера.</a:t>
            </a:r>
          </a:p>
          <a:p>
            <a:pPr marL="742950" lvl="1" indent="-285750">
              <a:buFont typeface="+mj-lt"/>
              <a:buAutoNum type="arabicPeriod"/>
            </a:pPr>
            <a:r>
              <a:rPr lang="ru-RU" dirty="0"/>
              <a:t>Управление параметрами блокировки загрузок при превышении лимита.</a:t>
            </a:r>
          </a:p>
          <a:p>
            <a:pPr marL="742950" lvl="1" indent="-285750">
              <a:buFont typeface="+mj-lt"/>
              <a:buAutoNum type="arabicPeriod"/>
            </a:pPr>
            <a:r>
              <a:rPr lang="ru-RU" dirty="0"/>
              <a:t>Настройка допустимых форматов и размеров изображений.</a:t>
            </a:r>
          </a:p>
          <a:p>
            <a:pPr marL="742950" lvl="1" indent="-285750">
              <a:buFont typeface="+mj-lt"/>
              <a:buAutoNum type="arabicPeriod"/>
            </a:pPr>
            <a:r>
              <a:rPr lang="ru-RU" dirty="0"/>
              <a:t>Функция сохранения изменений.</a:t>
            </a:r>
          </a:p>
          <a:p>
            <a:pPr>
              <a:buFont typeface="+mj-lt"/>
              <a:buAutoNum type="arabicPeriod"/>
            </a:pPr>
            <a:r>
              <a:rPr lang="ru-RU" b="1" dirty="0"/>
              <a:t>Профиль администратора</a:t>
            </a:r>
            <a:endParaRPr lang="ru-RU" dirty="0"/>
          </a:p>
          <a:p>
            <a:pPr marL="742950" lvl="1" indent="-285750">
              <a:buFont typeface="+mj-lt"/>
              <a:buAutoNum type="arabicPeriod"/>
            </a:pPr>
            <a:r>
              <a:rPr lang="ru-RU" dirty="0"/>
              <a:t>Редактирование никнейма, логина и пароля.</a:t>
            </a:r>
          </a:p>
          <a:p>
            <a:pPr marL="742950" lvl="1" indent="-285750">
              <a:buFont typeface="+mj-lt"/>
              <a:buAutoNum type="arabicPeriod"/>
            </a:pPr>
            <a:r>
              <a:rPr lang="ru-RU" dirty="0"/>
              <a:t>Возможность выхода из аккаунта с возвратом к выбору сервера.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8849A2D-10F1-DD7A-D586-F86F02E427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195B2-C33F-4753-BF47-8E3460E1328A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07668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6EDD3-1310-325C-553C-104D20E05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F76FA0D-E2F2-8C2F-A486-29B52342C4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ED45D6E-45C5-52F3-E07F-62D695B872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ru-RU" b="1" dirty="0"/>
              <a:t>Настройки</a:t>
            </a:r>
            <a:endParaRPr lang="ru-RU" dirty="0"/>
          </a:p>
          <a:p>
            <a:pPr marL="742950" lvl="1" indent="-285750">
              <a:buFont typeface="+mj-lt"/>
              <a:buAutoNum type="arabicPeriod"/>
            </a:pPr>
            <a:r>
              <a:rPr lang="ru-RU" dirty="0"/>
              <a:t>Данные о доступном и использованном пространстве сервера.</a:t>
            </a:r>
          </a:p>
          <a:p>
            <a:pPr marL="742950" lvl="1" indent="-285750">
              <a:buFont typeface="+mj-lt"/>
              <a:buAutoNum type="arabicPeriod"/>
            </a:pPr>
            <a:r>
              <a:rPr lang="ru-RU" dirty="0"/>
              <a:t>Управление параметрами блокировки загрузок при превышении лимита.</a:t>
            </a:r>
          </a:p>
          <a:p>
            <a:pPr marL="742950" lvl="1" indent="-285750">
              <a:buFont typeface="+mj-lt"/>
              <a:buAutoNum type="arabicPeriod"/>
            </a:pPr>
            <a:r>
              <a:rPr lang="ru-RU" dirty="0"/>
              <a:t>Настройка допустимых форматов и размеров изображений.</a:t>
            </a:r>
          </a:p>
          <a:p>
            <a:pPr marL="742950" lvl="1" indent="-285750">
              <a:buFont typeface="+mj-lt"/>
              <a:buAutoNum type="arabicPeriod"/>
            </a:pPr>
            <a:r>
              <a:rPr lang="ru-RU" dirty="0"/>
              <a:t>Функция сохранения изменений.</a:t>
            </a:r>
          </a:p>
          <a:p>
            <a:pPr>
              <a:buFont typeface="+mj-lt"/>
              <a:buAutoNum type="arabicPeriod"/>
            </a:pPr>
            <a:r>
              <a:rPr lang="ru-RU" b="1" dirty="0"/>
              <a:t>Профиль администратора</a:t>
            </a:r>
            <a:endParaRPr lang="ru-RU" dirty="0"/>
          </a:p>
          <a:p>
            <a:pPr marL="742950" lvl="1" indent="-285750">
              <a:buFont typeface="+mj-lt"/>
              <a:buAutoNum type="arabicPeriod"/>
            </a:pPr>
            <a:r>
              <a:rPr lang="ru-RU" dirty="0"/>
              <a:t>Редактирование никнейма, логина и пароля.</a:t>
            </a:r>
          </a:p>
          <a:p>
            <a:pPr marL="742950" lvl="1" indent="-285750">
              <a:buFont typeface="+mj-lt"/>
              <a:buAutoNum type="arabicPeriod"/>
            </a:pPr>
            <a:r>
              <a:rPr lang="ru-RU" dirty="0"/>
              <a:t>Возможность выхода из аккаунта с возвратом к выбору сервера.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1095F7B-05F7-053C-BC4A-9F6E71D8F7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195B2-C33F-4753-BF47-8E3460E1328A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60601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055AD-8662-DAB6-C023-D3E998F49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C8AACD5-E455-77C9-7777-696D5FBF0D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0645066-718A-A3CF-751E-287B1139B0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ru-RU" b="1" dirty="0"/>
              <a:t>Настройки</a:t>
            </a:r>
            <a:endParaRPr lang="ru-RU" dirty="0"/>
          </a:p>
          <a:p>
            <a:pPr marL="742950" lvl="1" indent="-285750">
              <a:buFont typeface="+mj-lt"/>
              <a:buAutoNum type="arabicPeriod"/>
            </a:pPr>
            <a:r>
              <a:rPr lang="ru-RU" dirty="0"/>
              <a:t>Данные о доступном и использованном пространстве сервера.</a:t>
            </a:r>
          </a:p>
          <a:p>
            <a:pPr marL="742950" lvl="1" indent="-285750">
              <a:buFont typeface="+mj-lt"/>
              <a:buAutoNum type="arabicPeriod"/>
            </a:pPr>
            <a:r>
              <a:rPr lang="ru-RU" dirty="0"/>
              <a:t>Управление параметрами блокировки загрузок при превышении лимита.</a:t>
            </a:r>
          </a:p>
          <a:p>
            <a:pPr marL="742950" lvl="1" indent="-285750">
              <a:buFont typeface="+mj-lt"/>
              <a:buAutoNum type="arabicPeriod"/>
            </a:pPr>
            <a:r>
              <a:rPr lang="ru-RU" dirty="0"/>
              <a:t>Настройка допустимых форматов и размеров изображений.</a:t>
            </a:r>
          </a:p>
          <a:p>
            <a:pPr marL="742950" lvl="1" indent="-285750">
              <a:buFont typeface="+mj-lt"/>
              <a:buAutoNum type="arabicPeriod"/>
            </a:pPr>
            <a:r>
              <a:rPr lang="ru-RU" dirty="0"/>
              <a:t>Функция сохранения изменений.</a:t>
            </a:r>
          </a:p>
          <a:p>
            <a:pPr>
              <a:buFont typeface="+mj-lt"/>
              <a:buAutoNum type="arabicPeriod"/>
            </a:pPr>
            <a:r>
              <a:rPr lang="ru-RU" b="1" dirty="0"/>
              <a:t>Профиль администратора</a:t>
            </a:r>
            <a:endParaRPr lang="ru-RU" dirty="0"/>
          </a:p>
          <a:p>
            <a:pPr marL="742950" lvl="1" indent="-285750">
              <a:buFont typeface="+mj-lt"/>
              <a:buAutoNum type="arabicPeriod"/>
            </a:pPr>
            <a:r>
              <a:rPr lang="ru-RU" dirty="0"/>
              <a:t>Редактирование никнейма, логина и пароля.</a:t>
            </a:r>
          </a:p>
          <a:p>
            <a:pPr marL="742950" lvl="1" indent="-285750">
              <a:buFont typeface="+mj-lt"/>
              <a:buAutoNum type="arabicPeriod"/>
            </a:pPr>
            <a:r>
              <a:rPr lang="ru-RU" dirty="0"/>
              <a:t>Возможность выхода из аккаунта с возвратом к выбору сервера.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7089FAE-5402-A259-823A-DC608D6558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195B2-C33F-4753-BF47-8E3460E1328A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92826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F0EB1-D3EF-0AF8-6A19-8E23AC5B7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BD2888A-55EB-D10D-5C0E-6DA34AB784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D29BD08-9828-AC73-F772-534C450CE7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7CA7545-CB00-EAE1-A24A-46F5AF781A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195B2-C33F-4753-BF47-8E3460E1328A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53317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DC23B-2EDC-BD5D-3B32-83B319855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C936800-78BC-FBE5-B472-C0E6D92163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C3A6521-5317-86BE-3F83-E7A2F05B48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0AC56FC-EB01-82DC-CE47-5B5BC0E793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195B2-C33F-4753-BF47-8E3460E1328A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16828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6FEF4-B402-CE75-302E-BD5C15DA0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2D4E97A-8E11-B790-8E88-CB9519F0F5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3152A62-6E26-3D3D-DF0C-4743FE107E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E5F4842-C053-D4B7-87AE-C4825061FE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195B2-C33F-4753-BF47-8E3460E1328A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22223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56BB6-4DAB-AE5E-5298-5120F6BAB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E40A567-A6D7-0C36-5B65-D3CBE103B3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2941556-F9A8-D83A-5C46-CE716F8DC7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EEFC509-77D3-81D2-A76A-3202890B2E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195B2-C33F-4753-BF47-8E3460E1328A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5175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4436B-3E3F-14E2-1C22-63773BA82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6719765-5455-DEAB-B69A-B40918358A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0551D53-B912-9C19-20E4-D88C15FC79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5314D8E-EA23-32FA-C7B2-0E2743390C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195B2-C33F-4753-BF47-8E3460E1328A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505033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5BD64-48B1-9482-49CC-C28AABE00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099D34B-E367-055A-1A58-D91859A0E6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27972F9-4DC2-EE6A-BFE8-83000241A5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E77A1A7-9B59-8517-A291-DD8C0E3343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195B2-C33F-4753-BF47-8E3460E1328A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14559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8C28E-A5FE-6A4C-E57F-520B70D74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4D07F08-D647-DA06-DB50-64B600EEA8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68D0F98-829B-80A1-806F-68FBC13891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641D2D1-656C-704D-8ABB-688A6AF816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195B2-C33F-4753-BF47-8E3460E1328A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144789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96933-D960-3609-56B9-30106E206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4A536E2-9B16-EF6F-E975-62A9932DCC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C51680C-0624-452C-0FCD-05650AC698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B849BCA-2F4E-C5B4-EE40-2BF7201A10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195B2-C33F-4753-BF47-8E3460E1328A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814408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B6901-DB70-C0B5-9DCF-5996550C1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F0E8F7E-3C62-7EB4-5F94-064B6A65C5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52C43C8-3931-FFC5-2315-734706E1B4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E24BDDD-C1C0-83D6-FFDA-8AC130BFD6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195B2-C33F-4753-BF47-8E3460E1328A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977152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E0EB7-5F03-787D-6AB1-F76404DF2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C6CE9DE-2A9C-A471-045B-B1CEFE7208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73E35F7-4792-332D-68A2-76A24628E5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B5C8536-3BDA-2FA4-6472-165B551D58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195B2-C33F-4753-BF47-8E3460E1328A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214302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9EC13-B1B2-1C84-022D-7B548F9E0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AFE5E23-1CFD-5A09-CCE2-B4C1782F95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363DF88-5BF7-5293-8D4D-0A8430C8D0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60EA1C-0EF3-00E3-16AC-EB3EA582E7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195B2-C33F-4753-BF47-8E3460E1328A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106352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7C27E-7168-2785-28B4-D55467145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F9A87AF-8397-D8E4-22B6-B7E6A05729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D78E678-8B80-9F7D-0BA9-385EC1F2F4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AC6573D-B2EC-5E1D-86B9-99244164B7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195B2-C33F-4753-BF47-8E3460E1328A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98488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DCFE3-5832-65E5-6B4E-E37295EED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1D3ED88-145D-75F5-1D3E-A4DF58EB4A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376ACDB-B1C2-436E-4EF1-DB09C11DE7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E3CA35B-E565-39E8-D8C3-78F3A28C62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195B2-C33F-4753-BF47-8E3460E1328A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106863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222E1-CB5E-723C-CE51-AAD2F13E6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3E40040-3567-41D6-3433-4F19471FEE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5A172CF-C6E6-2DF8-3C26-2464E90704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D451D72-AB7A-7527-F327-316E128AF9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195B2-C33F-4753-BF47-8E3460E1328A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01879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8957E-AA7F-99D2-43D9-22B881CD2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FEEB104-58A1-63C3-EB00-26C1E4F4C7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19D9809-F08F-20E6-A443-4E2ABFD818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038EA14-9039-A37A-B76E-16A2B73991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195B2-C33F-4753-BF47-8E3460E1328A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316554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45D7D-8ED4-8F53-B100-7932D19CF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A2C3C6F-D340-A9B3-2566-E333990621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C1749C3-9632-5B3C-1463-64DE1C268E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48E3C86-9B16-4A23-4531-CF03F9C571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195B2-C33F-4753-BF47-8E3460E1328A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531434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D796E-C128-F086-CA8F-B954711F3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62476FE-DBD0-43F6-5D1B-5BA7FA8FA0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57A66A2-BC83-C576-43CA-BD6CF4F647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1101096-7918-8C5F-FBC7-A690C21389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195B2-C33F-4753-BF47-8E3460E1328A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234111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FE226-ACBC-C4EC-4098-557FE4914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1B9E6E0-7DAD-8E94-D918-F50E4C952B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A04600B-5BA9-2FBD-E1D8-67A1373E71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Были разработаны </a:t>
            </a:r>
            <a:r>
              <a:rPr lang="ru-RU" dirty="0" err="1"/>
              <a:t>автотесты</a:t>
            </a:r>
            <a:r>
              <a:rPr lang="ru-RU" dirty="0"/>
              <a:t> для </a:t>
            </a:r>
            <a:r>
              <a:rPr lang="ru-RU" dirty="0" err="1"/>
              <a:t>апи</a:t>
            </a:r>
            <a:r>
              <a:rPr lang="ru-RU" dirty="0"/>
              <a:t> для проверки всех методов, результат можете видеть на слайде, не все тесты прошли успешны</a:t>
            </a:r>
            <a:br>
              <a:rPr lang="ru-RU" dirty="0"/>
            </a:br>
            <a:r>
              <a:rPr lang="ru-RU" dirty="0"/>
              <a:t>Также в ручном режиме было протестировано мобильное приложение, в ходе которого были найдены некоторые баги, которые в скором времени были успешно устранены.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2674CB0-7DA3-96EE-B3A4-7A7A936702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195B2-C33F-4753-BF47-8E3460E1328A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743584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87FDC-06A5-3E7C-93D8-9B5E98149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AF0F59E-CAEA-D630-EC0E-E0B7CBBD0A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3D078E3-B28F-25FE-6016-5DB7125D31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В ходе выполнения дипломного проекта был успешно разработан сервис управления игровыми сохранениями «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laySaveBack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», полностью соответствующий поставленной цели.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В рамках работы были решены все поставленные задачи, которые представлены на слайде.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Также хотел бы дополнить</a:t>
            </a:r>
            <a:r>
              <a:rPr lang="ru-RU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что система 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демонстрирует потенциал для дальнейшего развития, включая возможную интеграцию с популярными игровыми платформами и различными облачными сервисами.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DD10222-DB6A-B711-839C-02693A18B9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195B2-C33F-4753-BF47-8E3460E1328A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390086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6608A-DBB3-AB51-2BE1-69A8D5D44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09380EB-D12C-D367-A33F-8EACAAFECC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A968970-900A-A88C-1F4D-7ECAF6F46E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A681279-F570-FF3E-73A8-2D0F189A5C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195B2-C33F-4753-BF47-8E3460E1328A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27686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3CB4A1-8E2B-D4D6-3E62-5BEB9725E4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C545B1F-D673-274D-8123-1F87CA31F4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9B82FC5-7CEF-0A09-8FDF-FBE9DD746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DAD0A-82C3-4108-A77D-EC469C3939C2}" type="datetimeFigureOut">
              <a:rPr lang="ru-RU" smtClean="0"/>
              <a:t>17.06.2025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08D0E40-05EF-F18B-2F92-B86895605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1FB3457-483F-5D55-A284-418AD03D1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D3CB4-8FF8-43E1-9279-3666302FEE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2665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C75B58-F754-A897-8CA3-F813E1C60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6199785-5624-DA64-A34B-8A91676D20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00355E8-4A46-92BD-20FF-13116C366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DAD0A-82C3-4108-A77D-EC469C3939C2}" type="datetimeFigureOut">
              <a:rPr lang="ru-RU" smtClean="0"/>
              <a:t>17.06.2025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7687F07-F433-7D76-D86D-9AEABA061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D271895-E8B3-9ECD-1549-9375B5CFC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D3CB4-8FF8-43E1-9279-3666302FEE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6503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8A6C53-F033-1764-770B-11429F150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CAE0AA9-50F5-B7BE-739D-020F39AF65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D9C18C-5963-BDE5-7838-D19E306D4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DAD0A-82C3-4108-A77D-EC469C3939C2}" type="datetimeFigureOut">
              <a:rPr lang="ru-RU" smtClean="0"/>
              <a:t>17.06.2025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2F4C393-0003-C11B-35E9-DE28C3132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36954BC-43C7-E1AF-D7F5-EC2D0461F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D3CB4-8FF8-43E1-9279-3666302FEE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5832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D2A6F4-FCD1-AA1B-A70B-6F6F64601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D0F5D8-6187-432C-996C-1A92DC9D49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EB536E5-B5E4-7CA3-16E3-D443FD9E5E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FE35AB5-E98A-45ED-4F72-BF258C1FC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DAD0A-82C3-4108-A77D-EC469C3939C2}" type="datetimeFigureOut">
              <a:rPr lang="ru-RU" smtClean="0"/>
              <a:t>17.06.2025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89A4691-ECEE-2D81-8357-051545EE1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868E448-72B4-3AE7-962E-BFCB8EC0E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D3CB4-8FF8-43E1-9279-3666302FEE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2430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6E201E-B39A-DB91-1023-5FF9CC93F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D1E50B0-023C-3D8D-BEE8-3D437EDD1E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14BAC89-67E3-C213-C40E-C3A5C30708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003ECF6-DE87-CF31-5315-E8F112E887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C9B3F73-C1CB-F286-1050-F6709F269B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CF7BF5C-4E39-F235-F057-32B35FC91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DAD0A-82C3-4108-A77D-EC469C3939C2}" type="datetimeFigureOut">
              <a:rPr lang="ru-RU" smtClean="0"/>
              <a:t>17.06.2025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0B1F7B-6B46-10F5-932F-7A006A8E5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7170240-BF92-4782-87A9-3E84C98DD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D3CB4-8FF8-43E1-9279-3666302FEE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5429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042410-1971-C848-D80A-607AF321E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1DCC2AB-CFA7-1A67-EF4A-A02D53244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DAD0A-82C3-4108-A77D-EC469C3939C2}" type="datetimeFigureOut">
              <a:rPr lang="ru-RU" smtClean="0"/>
              <a:t>17.06.2025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FF0026A-C8E6-CD2E-CE75-4768B7A20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0E5F7B1-0F7A-4E76-16EB-E6CAFF92B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D3CB4-8FF8-43E1-9279-3666302FEE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6042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E639E58-ADA9-866A-3DBF-69F5A354B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DAD0A-82C3-4108-A77D-EC469C3939C2}" type="datetimeFigureOut">
              <a:rPr lang="ru-RU" smtClean="0"/>
              <a:t>17.06.2025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99B5A0F-E45A-A271-132E-B0ADC15EA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DF889DC-BCA1-C286-557E-9B28143E3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D3CB4-8FF8-43E1-9279-3666302FEE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1981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31ED0E-9B6F-4C87-F41E-8572AB422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5CAE5E-8784-8D13-ACA0-6BE3B3634C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30E00C8-3F1C-EC3A-ABB8-91F225CB53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B2A0B16-7FBA-EC5D-3EB2-D7B8C4B5D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DAD0A-82C3-4108-A77D-EC469C3939C2}" type="datetimeFigureOut">
              <a:rPr lang="ru-RU" smtClean="0"/>
              <a:t>17.06.2025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6FC9625-F76B-7FF5-F000-42E270C1F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D677FC8-B056-77A1-5E21-F01214B36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D3CB4-8FF8-43E1-9279-3666302FEE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6639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35A53D-1CA4-5585-6546-0F6219049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F142533-9561-3A2F-43DC-0FB2393C3F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019B776-3330-49DD-2886-D01A6F467A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16D523E-76F9-CF16-676D-3590A47A6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DAD0A-82C3-4108-A77D-EC469C3939C2}" type="datetimeFigureOut">
              <a:rPr lang="ru-RU" smtClean="0"/>
              <a:t>17.06.2025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F688B74-138D-54A4-A21B-EDCA9962B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F64EAB2-1D62-9E0C-C65C-AD02FE372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D3CB4-8FF8-43E1-9279-3666302FEE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6681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7F1E12-6267-5CA8-EF18-5C6D10649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2F7DC13-DF04-0C20-ECC2-C267D4CEED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8F858C1-8D29-9DEF-1884-5AE3E420F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DAD0A-82C3-4108-A77D-EC469C3939C2}" type="datetimeFigureOut">
              <a:rPr lang="ru-RU" smtClean="0"/>
              <a:t>17.06.2025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9DFBA3-DC49-9203-B317-3A7F5D195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035AB71-C7E2-6152-ECF5-696C24D46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D3CB4-8FF8-43E1-9279-3666302FEE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1985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4162135-16DA-081A-C67B-681063F97A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D8526C2-64C0-EE6C-9ABB-3A5A5F6FDB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BE4BC86-8799-9500-5D5E-50F8055D8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DAD0A-82C3-4108-A77D-EC469C3939C2}" type="datetimeFigureOut">
              <a:rPr lang="ru-RU" smtClean="0"/>
              <a:t>17.06.2025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B160DE0-E496-D615-4E55-849406A14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8172D9-497A-22FD-3254-5C7D6CFD2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D3CB4-8FF8-43E1-9279-3666302FEE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3078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42AFFB-C4F3-CBE2-1497-6C9ACBC61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987B299-C22A-5B83-397D-791F097987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3AD5C89-43ED-9565-F30C-DEFF70FEE7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5DAD0A-82C3-4108-A77D-EC469C3939C2}" type="datetimeFigureOut">
              <a:rPr lang="ru-RU" smtClean="0"/>
              <a:t>17.06.2025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1C7BBAD-E366-E44C-EFCE-B855B893BB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481DBB2-33F6-6898-1341-41E237B099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0D3CB4-8FF8-43E1-9279-3666302FEE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7535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17" Type="http://schemas.openxmlformats.org/officeDocument/2006/relationships/image" Target="../media/image17.sv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5" Type="http://schemas.openxmlformats.org/officeDocument/2006/relationships/image" Target="../media/image1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D08C26-BAB2-9492-3E55-0BFA7305A6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66407"/>
            <a:ext cx="12192000" cy="1108821"/>
          </a:xfrm>
        </p:spPr>
        <p:txBody>
          <a:bodyPr anchor="ctr">
            <a:noAutofit/>
          </a:bodyPr>
          <a:lstStyle/>
          <a:p>
            <a:r>
              <a:rPr lang="ru-RU" sz="2000" b="1" dirty="0">
                <a:solidFill>
                  <a:srgbClr val="4F3347"/>
                </a:solidFill>
                <a:latin typeface="Candara" panose="020E0502030303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ОГБПОУ</a:t>
            </a:r>
            <a:r>
              <a:rPr lang="en-US" sz="2000" b="1" dirty="0">
                <a:solidFill>
                  <a:srgbClr val="4F3347"/>
                </a:solidFill>
                <a:latin typeface="Candara" panose="020E0502030303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sz="2000" b="1" dirty="0">
                <a:solidFill>
                  <a:srgbClr val="4F3347"/>
                </a:solidFill>
                <a:latin typeface="Candara" panose="020E0502030303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«ТОМСКИЙ ЭКОНОМИКО-ПРОМЫШЛЕННЫЙ КОЛЛЕДЖ»</a:t>
            </a:r>
            <a:endParaRPr lang="ru-RU" sz="2000" dirty="0">
              <a:solidFill>
                <a:srgbClr val="4F3347"/>
              </a:solidFill>
              <a:latin typeface="Candara" panose="020E0502030303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EA89EB8-D32C-20C2-31F5-075FB8F95C7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85" y="251849"/>
            <a:ext cx="1826868" cy="1108820"/>
          </a:xfrm>
          <a:prstGeom prst="rect">
            <a:avLst/>
          </a:prstGeom>
          <a:scene3d>
            <a:camera prst="orthographicFront"/>
            <a:lightRig rig="threePt" dir="t"/>
          </a:scene3d>
          <a:sp3d prstMaterial="flat">
            <a:extrusionClr>
              <a:schemeClr val="bg1"/>
            </a:extrusionClr>
            <a:contourClr>
              <a:schemeClr val="bg1"/>
            </a:contourClr>
          </a:sp3d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E7A7F90-3546-A12C-838B-4E89BC08CC3E}"/>
              </a:ext>
            </a:extLst>
          </p:cNvPr>
          <p:cNvSpPr txBox="1"/>
          <p:nvPr/>
        </p:nvSpPr>
        <p:spPr>
          <a:xfrm>
            <a:off x="3017044" y="1772335"/>
            <a:ext cx="61579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rgbClr val="4F3347"/>
                </a:solidFill>
                <a:latin typeface="Candara" panose="020E0502030303020204" pitchFamily="34" charset="0"/>
              </a:rPr>
              <a:t>ПРОЕКТИРОВАНИЕ И РАЗРАБОТКА </a:t>
            </a:r>
            <a:endParaRPr lang="en-US" dirty="0">
              <a:solidFill>
                <a:srgbClr val="4F3347"/>
              </a:solidFill>
              <a:latin typeface="Candara" panose="020E0502030303020204" pitchFamily="34" charset="0"/>
            </a:endParaRPr>
          </a:p>
          <a:p>
            <a:pPr algn="ctr"/>
            <a:r>
              <a:rPr lang="ru-RU" dirty="0">
                <a:solidFill>
                  <a:srgbClr val="4F3347"/>
                </a:solidFill>
                <a:latin typeface="Candara" panose="020E0502030303020204" pitchFamily="34" charset="0"/>
              </a:rPr>
              <a:t>СЕРВИСА ИГРОВЫХ СОХРАНЕНИЙ «</a:t>
            </a:r>
            <a:r>
              <a:rPr lang="en-US" dirty="0">
                <a:solidFill>
                  <a:srgbClr val="4F3347"/>
                </a:solidFill>
                <a:latin typeface="Candara" panose="020E0502030303020204" pitchFamily="34" charset="0"/>
              </a:rPr>
              <a:t>PlaySaveBack</a:t>
            </a:r>
            <a:r>
              <a:rPr lang="ru-RU" dirty="0">
                <a:solidFill>
                  <a:srgbClr val="4F3347"/>
                </a:solidFill>
                <a:latin typeface="Candara" panose="020E0502030303020204" pitchFamily="34" charset="0"/>
              </a:rPr>
              <a:t>»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8D6C04A-0B80-2183-B508-141EF826D425}"/>
              </a:ext>
            </a:extLst>
          </p:cNvPr>
          <p:cNvSpPr txBox="1"/>
          <p:nvPr/>
        </p:nvSpPr>
        <p:spPr>
          <a:xfrm>
            <a:off x="3017044" y="2755598"/>
            <a:ext cx="6157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rgbClr val="4F3347"/>
                </a:solidFill>
                <a:latin typeface="Candara" panose="020E0502030303020204" pitchFamily="34" charset="0"/>
              </a:rPr>
              <a:t>ДИПЛОМНЫЙ ПРОЕКТ 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3DA7B231-1A49-E44F-513E-D7F26D55CC70}"/>
              </a:ext>
            </a:extLst>
          </p:cNvPr>
          <p:cNvSpPr/>
          <p:nvPr/>
        </p:nvSpPr>
        <p:spPr>
          <a:xfrm>
            <a:off x="9505772" y="4522853"/>
            <a:ext cx="268622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4F3347"/>
                </a:solidFill>
                <a:latin typeface="Candara" panose="020E0502030303020204" pitchFamily="34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Выполнил:</a:t>
            </a:r>
          </a:p>
          <a:p>
            <a:r>
              <a:rPr lang="ru-RU" dirty="0">
                <a:solidFill>
                  <a:srgbClr val="4F3347"/>
                </a:solidFill>
                <a:latin typeface="Candara" panose="020E0502030303020204" pitchFamily="34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Студент группы 1912с</a:t>
            </a:r>
            <a:r>
              <a:rPr lang="en-US" dirty="0">
                <a:solidFill>
                  <a:srgbClr val="4F3347"/>
                </a:solidFill>
                <a:latin typeface="Candara" panose="020E0502030303020204" pitchFamily="34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:</a:t>
            </a:r>
            <a:endParaRPr lang="ru-RU" dirty="0">
              <a:solidFill>
                <a:srgbClr val="4F3347"/>
              </a:solidFill>
              <a:latin typeface="Candara" panose="020E0502030303020204" pitchFamily="34" charset="0"/>
              <a:ea typeface="Arial Unicode MS" panose="020B0604020202020204" pitchFamily="34" charset="-128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rgbClr val="4F3347"/>
                </a:solidFill>
                <a:latin typeface="Candara" panose="020E0502030303020204" pitchFamily="34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Заикин В.А</a:t>
            </a:r>
          </a:p>
          <a:p>
            <a:endParaRPr lang="ru-RU" dirty="0">
              <a:solidFill>
                <a:srgbClr val="4F3347"/>
              </a:solidFill>
              <a:latin typeface="Candara" panose="020E0502030303020204" pitchFamily="34" charset="0"/>
              <a:ea typeface="Arial Unicode MS" panose="020B0604020202020204" pitchFamily="34" charset="-128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rgbClr val="4F3347"/>
                </a:solidFill>
                <a:latin typeface="Candara" panose="020E0502030303020204" pitchFamily="34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Проверил:</a:t>
            </a:r>
          </a:p>
          <a:p>
            <a:r>
              <a:rPr lang="ru-RU" dirty="0">
                <a:solidFill>
                  <a:srgbClr val="4F3347"/>
                </a:solidFill>
                <a:latin typeface="Candara" panose="020E0502030303020204" pitchFamily="34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Руководитель ДП</a:t>
            </a:r>
          </a:p>
          <a:p>
            <a:r>
              <a:rPr lang="ru-RU" dirty="0">
                <a:solidFill>
                  <a:srgbClr val="4F3347"/>
                </a:solidFill>
                <a:latin typeface="Candara" panose="020E0502030303020204" pitchFamily="34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Уляхин В.А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9915F50-D23C-19A8-B5DB-12A6AF808F84}"/>
              </a:ext>
            </a:extLst>
          </p:cNvPr>
          <p:cNvSpPr txBox="1"/>
          <p:nvPr/>
        </p:nvSpPr>
        <p:spPr>
          <a:xfrm>
            <a:off x="595312" y="3363739"/>
            <a:ext cx="110013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i="1" dirty="0">
                <a:solidFill>
                  <a:srgbClr val="4F334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СПЕЦИАЛЬНОСТЬ 09.02.07 ИНФОРМАЦИОННЫЕ СИСТЕМЫ И ПРОГРАММИРОВАНИЕ </a:t>
            </a:r>
          </a:p>
        </p:txBody>
      </p:sp>
    </p:spTree>
    <p:extLst>
      <p:ext uri="{BB962C8B-B14F-4D97-AF65-F5344CB8AC3E}">
        <p14:creationId xmlns:p14="http://schemas.microsoft.com/office/powerpoint/2010/main" val="3470865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Рисунок 59">
            <a:extLst>
              <a:ext uri="{FF2B5EF4-FFF2-40B4-BE49-F238E27FC236}">
                <a16:creationId xmlns:a16="http://schemas.microsoft.com/office/drawing/2014/main" id="{2E2B9837-15CC-1FEC-B43E-F82E60D53C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605984"/>
            <a:ext cx="6162675" cy="6162675"/>
          </a:xfrm>
          <a:prstGeom prst="rect">
            <a:avLst/>
          </a:prstGeom>
        </p:spPr>
      </p:pic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DBE28953-B107-8807-D922-28CDF6DACC4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85" y="251849"/>
            <a:ext cx="1166932" cy="708271"/>
          </a:xfrm>
          <a:prstGeom prst="rect">
            <a:avLst/>
          </a:prstGeom>
          <a:scene3d>
            <a:camera prst="orthographicFront"/>
            <a:lightRig rig="threePt" dir="t"/>
          </a:scene3d>
          <a:sp3d prstMaterial="flat">
            <a:extrusionClr>
              <a:schemeClr val="bg1"/>
            </a:extrusionClr>
            <a:contourClr>
              <a:schemeClr val="bg1"/>
            </a:contourClr>
          </a:sp3d>
        </p:spPr>
      </p:pic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80A82DB4-D938-22DA-CDE0-7A13FFFBEC4F}"/>
              </a:ext>
            </a:extLst>
          </p:cNvPr>
          <p:cNvSpPr/>
          <p:nvPr/>
        </p:nvSpPr>
        <p:spPr>
          <a:xfrm>
            <a:off x="4460873" y="144319"/>
            <a:ext cx="327025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0" cap="none" spc="0" dirty="0">
                <a:ln w="0"/>
                <a:solidFill>
                  <a:srgbClr val="4F3347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ВВЕДЕНИЕ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36D2F44-2597-4203-2258-35FE860CDE14}"/>
              </a:ext>
            </a:extLst>
          </p:cNvPr>
          <p:cNvSpPr txBox="1"/>
          <p:nvPr/>
        </p:nvSpPr>
        <p:spPr>
          <a:xfrm>
            <a:off x="504825" y="1476375"/>
            <a:ext cx="5838825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ru-RU" sz="2400" dirty="0">
                <a:solidFill>
                  <a:srgbClr val="4F3347"/>
                </a:solidFill>
                <a:latin typeface="Candara" panose="020E0502030303020204" pitchFamily="34" charset="0"/>
              </a:rPr>
              <a:t>Многие игры не предоставляет удобных средств для резервного копирования, версионности.</a:t>
            </a:r>
          </a:p>
          <a:p>
            <a:pPr algn="just">
              <a:spcAft>
                <a:spcPts val="1200"/>
              </a:spcAft>
            </a:pPr>
            <a:r>
              <a:rPr lang="ru-RU" sz="2400" dirty="0">
                <a:solidFill>
                  <a:srgbClr val="4F3347"/>
                </a:solidFill>
                <a:latin typeface="Candara" panose="020E0502030303020204" pitchFamily="34" charset="0"/>
              </a:rPr>
              <a:t>Разработанная система решает эту проблему, предоставляю удобный инструмент для хранений, управления и синхронизации игровых сохранений. </a:t>
            </a:r>
          </a:p>
          <a:p>
            <a:pPr algn="just">
              <a:spcAft>
                <a:spcPts val="1200"/>
              </a:spcAft>
            </a:pPr>
            <a:r>
              <a:rPr lang="ru-RU" sz="2400" dirty="0">
                <a:solidFill>
                  <a:srgbClr val="4F3347"/>
                </a:solidFill>
                <a:latin typeface="Candara" panose="020E0502030303020204" pitchFamily="34" charset="0"/>
              </a:rPr>
              <a:t>Пользователи смогу загружать и восстанавливать сохранений, а также делиться с другими игроками.</a:t>
            </a:r>
          </a:p>
        </p:txBody>
      </p:sp>
    </p:spTree>
    <p:extLst>
      <p:ext uri="{BB962C8B-B14F-4D97-AF65-F5344CB8AC3E}">
        <p14:creationId xmlns:p14="http://schemas.microsoft.com/office/powerpoint/2010/main" val="2447473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FB550-8CA6-C21E-4EA9-22F7F8675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706FE00-C8EA-E7AB-D94C-152A643D73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829" y="2763633"/>
            <a:ext cx="3746780" cy="3327979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4344402-2B7E-7138-DB20-74C1216141C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85" y="251849"/>
            <a:ext cx="1166932" cy="708271"/>
          </a:xfrm>
          <a:prstGeom prst="rect">
            <a:avLst/>
          </a:prstGeom>
          <a:scene3d>
            <a:camera prst="orthographicFront"/>
            <a:lightRig rig="threePt" dir="t"/>
          </a:scene3d>
          <a:sp3d prstMaterial="flat">
            <a:extrusionClr>
              <a:schemeClr val="bg1"/>
            </a:extrusionClr>
            <a:contourClr>
              <a:schemeClr val="bg1"/>
            </a:contourClr>
          </a:sp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99728BD-1965-9C8E-B7DF-1DF4EBB8E109}"/>
              </a:ext>
            </a:extLst>
          </p:cNvPr>
          <p:cNvSpPr txBox="1"/>
          <p:nvPr/>
        </p:nvSpPr>
        <p:spPr>
          <a:xfrm>
            <a:off x="217085" y="1504107"/>
            <a:ext cx="453001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solidFill>
                  <a:srgbClr val="4F3347"/>
                </a:solidFill>
                <a:latin typeface="Candara" panose="020E0502030303020204" pitchFamily="34" charset="0"/>
              </a:rPr>
              <a:t>Спроектировать и разработать сервис игровых сохранений «</a:t>
            </a:r>
            <a:r>
              <a:rPr lang="en-US" sz="2400" dirty="0">
                <a:solidFill>
                  <a:srgbClr val="4F3347"/>
                </a:solidFill>
                <a:latin typeface="Candara" panose="020E0502030303020204" pitchFamily="34" charset="0"/>
              </a:rPr>
              <a:t>PlaySaveBack</a:t>
            </a:r>
            <a:r>
              <a:rPr lang="ru-RU" sz="2400" dirty="0">
                <a:solidFill>
                  <a:srgbClr val="4F3347"/>
                </a:solidFill>
                <a:latin typeface="Candara" panose="020E0502030303020204" pitchFamily="34" charset="0"/>
              </a:rPr>
              <a:t>»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A19E9F6-3AC3-C280-C18D-195582643884}"/>
              </a:ext>
            </a:extLst>
          </p:cNvPr>
          <p:cNvSpPr/>
          <p:nvPr/>
        </p:nvSpPr>
        <p:spPr>
          <a:xfrm>
            <a:off x="6781800" y="590209"/>
            <a:ext cx="254011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0" cap="none" spc="0" dirty="0">
                <a:ln w="0"/>
                <a:solidFill>
                  <a:srgbClr val="4F3347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ЗАДАЧИ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DC155CF-6B40-2F48-A5D0-815373D551CB}"/>
              </a:ext>
            </a:extLst>
          </p:cNvPr>
          <p:cNvSpPr/>
          <p:nvPr/>
        </p:nvSpPr>
        <p:spPr>
          <a:xfrm>
            <a:off x="1871742" y="601773"/>
            <a:ext cx="174906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0" cap="none" spc="0" dirty="0">
                <a:ln w="0"/>
                <a:solidFill>
                  <a:srgbClr val="4F3347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ЦЕЛЬ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D7A2FEC-9986-3643-1F8E-AF0C7541D432}"/>
              </a:ext>
            </a:extLst>
          </p:cNvPr>
          <p:cNvSpPr/>
          <p:nvPr/>
        </p:nvSpPr>
        <p:spPr>
          <a:xfrm>
            <a:off x="5089189" y="1504107"/>
            <a:ext cx="88677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b="1" dirty="0">
                <a:ln w="1016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01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3A5C2D-62D4-FF3F-937F-AF8AC1FC5198}"/>
              </a:ext>
            </a:extLst>
          </p:cNvPr>
          <p:cNvSpPr txBox="1"/>
          <p:nvPr/>
        </p:nvSpPr>
        <p:spPr>
          <a:xfrm>
            <a:off x="5975966" y="1575444"/>
            <a:ext cx="58528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4F3347"/>
                </a:solidFill>
                <a:latin typeface="Candara" panose="020E0502030303020204" pitchFamily="34" charset="0"/>
              </a:rPr>
              <a:t>Спроектировать и реализовать базу данных для сервиса с использованием СУБД </a:t>
            </a:r>
            <a:r>
              <a:rPr lang="en-US" dirty="0">
                <a:solidFill>
                  <a:srgbClr val="4F3347"/>
                </a:solidFill>
                <a:latin typeface="Candara" panose="020E0502030303020204" pitchFamily="34" charset="0"/>
              </a:rPr>
              <a:t>SQLite</a:t>
            </a:r>
            <a:endParaRPr lang="ru-RU" dirty="0">
              <a:solidFill>
                <a:srgbClr val="4F3347"/>
              </a:solidFill>
              <a:latin typeface="Candara" panose="020E0502030303020204" pitchFamily="34" charset="0"/>
            </a:endParaRP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CF045108-BF5E-64D1-3507-A1EF0B78B560}"/>
              </a:ext>
            </a:extLst>
          </p:cNvPr>
          <p:cNvSpPr/>
          <p:nvPr/>
        </p:nvSpPr>
        <p:spPr>
          <a:xfrm>
            <a:off x="5089188" y="2311975"/>
            <a:ext cx="8847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b="1" dirty="0">
                <a:ln w="10160">
                  <a:solidFill>
                    <a:srgbClr val="7030A0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02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C4AE15-197A-A2E7-53B9-C5DEA6B5898C}"/>
              </a:ext>
            </a:extLst>
          </p:cNvPr>
          <p:cNvSpPr txBox="1"/>
          <p:nvPr/>
        </p:nvSpPr>
        <p:spPr>
          <a:xfrm>
            <a:off x="5975966" y="2576388"/>
            <a:ext cx="60571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4F3347"/>
                </a:solidFill>
                <a:latin typeface="Candara" panose="020E0502030303020204" pitchFamily="34" charset="0"/>
              </a:rPr>
              <a:t>Разработать </a:t>
            </a:r>
            <a:r>
              <a:rPr lang="en-US" dirty="0">
                <a:solidFill>
                  <a:srgbClr val="4F3347"/>
                </a:solidFill>
                <a:latin typeface="Candara" panose="020E0502030303020204" pitchFamily="34" charset="0"/>
              </a:rPr>
              <a:t>API</a:t>
            </a:r>
            <a:r>
              <a:rPr lang="ru-RU" dirty="0">
                <a:solidFill>
                  <a:srgbClr val="4F3347"/>
                </a:solidFill>
                <a:latin typeface="Candara" panose="020E0502030303020204" pitchFamily="34" charset="0"/>
              </a:rPr>
              <a:t> сервиса на основе фреймворка </a:t>
            </a:r>
            <a:r>
              <a:rPr lang="en-US" dirty="0">
                <a:solidFill>
                  <a:srgbClr val="4F3347"/>
                </a:solidFill>
                <a:latin typeface="Candara" panose="020E0502030303020204" pitchFamily="34" charset="0"/>
              </a:rPr>
              <a:t>Laravel 12</a:t>
            </a:r>
            <a:endParaRPr lang="ru-RU" dirty="0">
              <a:solidFill>
                <a:srgbClr val="4F3347"/>
              </a:solidFill>
              <a:latin typeface="Candara" panose="020E0502030303020204" pitchFamily="34" charset="0"/>
            </a:endParaRP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B12E5C3E-9F7E-38BD-B858-716F98A9F686}"/>
              </a:ext>
            </a:extLst>
          </p:cNvPr>
          <p:cNvSpPr/>
          <p:nvPr/>
        </p:nvSpPr>
        <p:spPr>
          <a:xfrm>
            <a:off x="5089188" y="3119843"/>
            <a:ext cx="8847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b="1" dirty="0">
                <a:ln w="10160">
                  <a:solidFill>
                    <a:srgbClr val="FF0000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03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0FD77A5-0CFD-DFE8-047D-450B7A685570}"/>
              </a:ext>
            </a:extLst>
          </p:cNvPr>
          <p:cNvSpPr txBox="1"/>
          <p:nvPr/>
        </p:nvSpPr>
        <p:spPr>
          <a:xfrm>
            <a:off x="5975966" y="3258342"/>
            <a:ext cx="58528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4F3347"/>
                </a:solidFill>
                <a:latin typeface="Candara" panose="020E0502030303020204" pitchFamily="34" charset="0"/>
              </a:rPr>
              <a:t>Создать десктопное приложение для клиента с использованием платформы </a:t>
            </a:r>
            <a:r>
              <a:rPr lang="en-US" dirty="0" err="1">
                <a:solidFill>
                  <a:srgbClr val="4F3347"/>
                </a:solidFill>
                <a:latin typeface="Candara" panose="020E0502030303020204" pitchFamily="34" charset="0"/>
              </a:rPr>
              <a:t>WinUI</a:t>
            </a:r>
            <a:r>
              <a:rPr lang="en-US" dirty="0">
                <a:solidFill>
                  <a:srgbClr val="4F3347"/>
                </a:solidFill>
                <a:latin typeface="Candara" panose="020E0502030303020204" pitchFamily="34" charset="0"/>
              </a:rPr>
              <a:t> 3</a:t>
            </a:r>
            <a:endParaRPr lang="ru-RU" dirty="0">
              <a:solidFill>
                <a:srgbClr val="4F3347"/>
              </a:solidFill>
              <a:latin typeface="Candara" panose="020E0502030303020204" pitchFamily="34" charset="0"/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4399ABEA-062A-2AFC-7CE4-5A35C8B87DB2}"/>
              </a:ext>
            </a:extLst>
          </p:cNvPr>
          <p:cNvSpPr/>
          <p:nvPr/>
        </p:nvSpPr>
        <p:spPr>
          <a:xfrm>
            <a:off x="5089188" y="3898795"/>
            <a:ext cx="8847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b="1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04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B4B67AD-5FA8-C73E-0AEB-EDC565CEEDB7}"/>
              </a:ext>
            </a:extLst>
          </p:cNvPr>
          <p:cNvSpPr txBox="1"/>
          <p:nvPr/>
        </p:nvSpPr>
        <p:spPr>
          <a:xfrm>
            <a:off x="5975965" y="4038815"/>
            <a:ext cx="60571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4F3347"/>
                </a:solidFill>
                <a:latin typeface="Candara" panose="020E0502030303020204" pitchFamily="34" charset="0"/>
              </a:rPr>
              <a:t>Разработать сценарии ручного тестирования десктопного приложения и провести тестирование вручную.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C87A3260-E505-6990-38BF-B50AFF773F69}"/>
              </a:ext>
            </a:extLst>
          </p:cNvPr>
          <p:cNvSpPr/>
          <p:nvPr/>
        </p:nvSpPr>
        <p:spPr>
          <a:xfrm>
            <a:off x="5089189" y="4638980"/>
            <a:ext cx="88479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b="1" dirty="0">
                <a:ln w="10160">
                  <a:solidFill>
                    <a:schemeClr val="accent6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05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979A617-0C20-8E22-2226-02B7FCF87987}"/>
              </a:ext>
            </a:extLst>
          </p:cNvPr>
          <p:cNvSpPr txBox="1"/>
          <p:nvPr/>
        </p:nvSpPr>
        <p:spPr>
          <a:xfrm>
            <a:off x="5975966" y="4777479"/>
            <a:ext cx="585286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4F3347"/>
                </a:solidFill>
                <a:latin typeface="Candara" panose="020E0502030303020204" pitchFamily="34" charset="0"/>
              </a:rPr>
              <a:t>Реализовать автоматизированные тесты и выполнить тестирование функциональности сервиса и приложения.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7B2A8E6-3C4A-4970-CCFC-B1314E8D0D5F}"/>
              </a:ext>
            </a:extLst>
          </p:cNvPr>
          <p:cNvSpPr/>
          <p:nvPr/>
        </p:nvSpPr>
        <p:spPr>
          <a:xfrm>
            <a:off x="5089189" y="5510173"/>
            <a:ext cx="88479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b="1" dirty="0">
                <a:ln w="10160">
                  <a:solidFill>
                    <a:srgbClr val="002060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06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28463B-31CD-3370-30E7-A2E36231A94B}"/>
              </a:ext>
            </a:extLst>
          </p:cNvPr>
          <p:cNvSpPr txBox="1"/>
          <p:nvPr/>
        </p:nvSpPr>
        <p:spPr>
          <a:xfrm>
            <a:off x="5975966" y="5700809"/>
            <a:ext cx="58528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4F3347"/>
                </a:solidFill>
                <a:latin typeface="Candara" panose="020E0502030303020204" pitchFamily="34" charset="0"/>
              </a:rPr>
              <a:t>Подготовить руководство пользователя для работы с десктопным приложением. </a:t>
            </a:r>
          </a:p>
        </p:txBody>
      </p:sp>
    </p:spTree>
    <p:extLst>
      <p:ext uri="{BB962C8B-B14F-4D97-AF65-F5344CB8AC3E}">
        <p14:creationId xmlns:p14="http://schemas.microsoft.com/office/powerpoint/2010/main" val="2243285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A5FA9-7138-BB2D-F31E-949FCCAC7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365B9C9-C1AC-252B-E7BE-BE22D4B8287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85" y="251849"/>
            <a:ext cx="1166932" cy="708271"/>
          </a:xfrm>
          <a:prstGeom prst="rect">
            <a:avLst/>
          </a:prstGeom>
          <a:scene3d>
            <a:camera prst="orthographicFront"/>
            <a:lightRig rig="threePt" dir="t"/>
          </a:scene3d>
          <a:sp3d prstMaterial="flat">
            <a:extrusionClr>
              <a:schemeClr val="bg1"/>
            </a:extrusionClr>
            <a:contourClr>
              <a:schemeClr val="bg1"/>
            </a:contourClr>
          </a:sp3d>
        </p:spPr>
      </p:pic>
      <p:pic>
        <p:nvPicPr>
          <p:cNvPr id="5" name="Объект 11">
            <a:extLst>
              <a:ext uri="{FF2B5EF4-FFF2-40B4-BE49-F238E27FC236}">
                <a16:creationId xmlns:a16="http://schemas.microsoft.com/office/drawing/2014/main" id="{B81E3C77-5F52-44EC-AFCA-981D7583E82E}"/>
              </a:ext>
            </a:extLst>
          </p:cNvPr>
          <p:cNvPicPr>
            <a:picLocks noGrp="1"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8481" y="3119176"/>
            <a:ext cx="2046954" cy="105876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021C65F-7401-409B-87D5-C90E7CB9C01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8183" y="1378010"/>
            <a:ext cx="1555006" cy="1617206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FC664C9-F87E-114E-DF33-3486F4C1E54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703046" y="2975476"/>
            <a:ext cx="1555006" cy="1555006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6090A8B-2659-4E8D-F094-601CD4BA696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013899" y="4518286"/>
            <a:ext cx="2933300" cy="1224895"/>
          </a:xfrm>
          <a:prstGeom prst="rect">
            <a:avLst/>
          </a:prstGeom>
        </p:spPr>
      </p:pic>
      <p:pic>
        <p:nvPicPr>
          <p:cNvPr id="1040" name="Picture 16" descr="C#&quot; Icon - Download for free – Iconduck">
            <a:extLst>
              <a:ext uri="{FF2B5EF4-FFF2-40B4-BE49-F238E27FC236}">
                <a16:creationId xmlns:a16="http://schemas.microsoft.com/office/drawing/2014/main" id="{39059D35-B27E-E98A-6B85-D2E4962C28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5002" y="3605070"/>
            <a:ext cx="1224702" cy="1378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DECA4D62-A8EE-7586-C418-AEF4FF7424A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2106" y="1174131"/>
            <a:ext cx="2230494" cy="2230494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DDC14FF2-30CF-4B76-A89E-EE705915C8D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703046" y="1299943"/>
            <a:ext cx="1393453" cy="1393453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532FAAF-5B61-3821-EC04-47FF31B8780E}"/>
              </a:ext>
            </a:extLst>
          </p:cNvPr>
          <p:cNvSpPr/>
          <p:nvPr/>
        </p:nvSpPr>
        <p:spPr>
          <a:xfrm>
            <a:off x="2278034" y="146333"/>
            <a:ext cx="763593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dirty="0">
                <a:ln w="0"/>
                <a:solidFill>
                  <a:srgbClr val="4F3347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ТЕХНОЛОГИЧЕСКИЙ СТЕК</a:t>
            </a:r>
            <a:endParaRPr lang="ru-RU" sz="5400" b="0" cap="none" spc="0" dirty="0">
              <a:ln w="0"/>
              <a:solidFill>
                <a:srgbClr val="4F3347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BA598BB-6FBA-1C30-2F55-CA97C417253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24524" y="4388322"/>
            <a:ext cx="2323345" cy="2323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528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1A0DE-158D-445C-EBE4-DEBB199B7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387B203-24A3-49DA-4ACA-F40B7F7145B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85" y="251849"/>
            <a:ext cx="1166932" cy="708271"/>
          </a:xfrm>
          <a:prstGeom prst="rect">
            <a:avLst/>
          </a:prstGeom>
          <a:scene3d>
            <a:camera prst="orthographicFront"/>
            <a:lightRig rig="threePt" dir="t"/>
          </a:scene3d>
          <a:sp3d prstMaterial="flat">
            <a:extrusionClr>
              <a:schemeClr val="bg1"/>
            </a:extrusionClr>
            <a:contourClr>
              <a:schemeClr val="bg1"/>
            </a:contourClr>
          </a:sp3d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43A731A-C18A-C02A-1B75-6357626AF8B7}"/>
              </a:ext>
            </a:extLst>
          </p:cNvPr>
          <p:cNvSpPr/>
          <p:nvPr/>
        </p:nvSpPr>
        <p:spPr>
          <a:xfrm>
            <a:off x="2895638" y="144319"/>
            <a:ext cx="640072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dirty="0">
                <a:ln w="0"/>
                <a:solidFill>
                  <a:srgbClr val="4F3347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ФУНКЦИОНАЛ ГОСТЯ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510FB29-AFD9-96A0-2A17-0460BBDC94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8125" y="1555614"/>
            <a:ext cx="6995749" cy="428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942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36480-79E0-C510-1F27-D91A03602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5388499-53FE-1220-FAA2-0E98E88C10B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85" y="251849"/>
            <a:ext cx="1166932" cy="708271"/>
          </a:xfrm>
          <a:prstGeom prst="rect">
            <a:avLst/>
          </a:prstGeom>
          <a:scene3d>
            <a:camera prst="orthographicFront"/>
            <a:lightRig rig="threePt" dir="t"/>
          </a:scene3d>
          <a:sp3d prstMaterial="flat">
            <a:extrusionClr>
              <a:schemeClr val="bg1"/>
            </a:extrusionClr>
            <a:contourClr>
              <a:schemeClr val="bg1"/>
            </a:contourClr>
          </a:sp3d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7FCA51B-211C-4415-D730-9A75C20BC5DF}"/>
              </a:ext>
            </a:extLst>
          </p:cNvPr>
          <p:cNvSpPr/>
          <p:nvPr/>
        </p:nvSpPr>
        <p:spPr>
          <a:xfrm>
            <a:off x="1476694" y="144319"/>
            <a:ext cx="923861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dirty="0">
                <a:ln w="0"/>
                <a:solidFill>
                  <a:srgbClr val="4F3347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ФУНКЦИОНАЛ ПОЛЬЗОВАТЕЛЯ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198ECC0-C5BC-EC8E-C7CF-25F9E07622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0840" y="1011160"/>
            <a:ext cx="7868454" cy="5846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373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019A2-C1CC-CBB6-7423-503714A43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F23F958-715D-DA7F-513C-D39686C216C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85" y="251849"/>
            <a:ext cx="1166932" cy="708271"/>
          </a:xfrm>
          <a:prstGeom prst="rect">
            <a:avLst/>
          </a:prstGeom>
          <a:scene3d>
            <a:camera prst="orthographicFront"/>
            <a:lightRig rig="threePt" dir="t"/>
          </a:scene3d>
          <a:sp3d prstMaterial="flat">
            <a:extrusionClr>
              <a:schemeClr val="bg1"/>
            </a:extrusionClr>
            <a:contourClr>
              <a:schemeClr val="bg1"/>
            </a:contourClr>
          </a:sp3d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E9B3938-E129-580E-9C67-13157FA147AC}"/>
              </a:ext>
            </a:extLst>
          </p:cNvPr>
          <p:cNvSpPr/>
          <p:nvPr/>
        </p:nvSpPr>
        <p:spPr>
          <a:xfrm>
            <a:off x="3350633" y="215546"/>
            <a:ext cx="5490734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4400" dirty="0">
                <a:ln w="0"/>
                <a:solidFill>
                  <a:srgbClr val="4F3347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ПРОЕКТИРОВАНИЕ БД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B9E3D96-C207-7C11-7EA2-507B3AD069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8117" y="1129719"/>
            <a:ext cx="7935765" cy="5301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438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31DD9-6203-5BD9-E00D-0D13F4246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E76BA5F-6D0E-8895-D11A-E4EDA6F3569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85" y="251849"/>
            <a:ext cx="1166932" cy="708271"/>
          </a:xfrm>
          <a:prstGeom prst="rect">
            <a:avLst/>
          </a:prstGeom>
          <a:scene3d>
            <a:camera prst="orthographicFront"/>
            <a:lightRig rig="threePt" dir="t"/>
          </a:scene3d>
          <a:sp3d prstMaterial="flat">
            <a:extrusionClr>
              <a:schemeClr val="bg1"/>
            </a:extrusionClr>
            <a:contourClr>
              <a:schemeClr val="bg1"/>
            </a:contourClr>
          </a:sp3d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6C160E5-7D61-3B11-13AA-E9F78212E78F}"/>
              </a:ext>
            </a:extLst>
          </p:cNvPr>
          <p:cNvSpPr/>
          <p:nvPr/>
        </p:nvSpPr>
        <p:spPr>
          <a:xfrm>
            <a:off x="3350633" y="215546"/>
            <a:ext cx="5490734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4400" dirty="0">
                <a:ln w="0"/>
                <a:solidFill>
                  <a:srgbClr val="4F3347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ПРОЕКТИРОВАНИЕ БД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3F3A2D4-FF37-EACB-49D6-77E763E499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2785" y="960120"/>
            <a:ext cx="7226429" cy="5781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364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90EA2-A522-256D-62F7-B63EA0FBA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070449F-1A16-F62F-2BFE-FE332B7677C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85" y="251849"/>
            <a:ext cx="1166932" cy="708271"/>
          </a:xfrm>
          <a:prstGeom prst="rect">
            <a:avLst/>
          </a:prstGeom>
          <a:scene3d>
            <a:camera prst="orthographicFront"/>
            <a:lightRig rig="threePt" dir="t"/>
          </a:scene3d>
          <a:sp3d prstMaterial="flat">
            <a:extrusionClr>
              <a:schemeClr val="bg1"/>
            </a:extrusionClr>
            <a:contourClr>
              <a:schemeClr val="bg1"/>
            </a:contourClr>
          </a:sp3d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9895878-8A03-C1CC-752E-FDC55071AA6F}"/>
              </a:ext>
            </a:extLst>
          </p:cNvPr>
          <p:cNvSpPr/>
          <p:nvPr/>
        </p:nvSpPr>
        <p:spPr>
          <a:xfrm>
            <a:off x="3350633" y="215546"/>
            <a:ext cx="5490734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4400" dirty="0">
                <a:ln w="0"/>
                <a:solidFill>
                  <a:srgbClr val="4F3347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ПРОЕКТИРОВАНИЕ БД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D14FB12-6709-D33B-C330-097D34523F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828" y="984987"/>
            <a:ext cx="10550343" cy="5777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848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C09AF-2A80-305B-04DB-0DE6A2E10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C480DDF-5AFC-BFAF-A988-41CD77580F2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85" y="251849"/>
            <a:ext cx="1166932" cy="708271"/>
          </a:xfrm>
          <a:prstGeom prst="rect">
            <a:avLst/>
          </a:prstGeom>
          <a:scene3d>
            <a:camera prst="orthographicFront"/>
            <a:lightRig rig="threePt" dir="t"/>
          </a:scene3d>
          <a:sp3d prstMaterial="flat">
            <a:extrusionClr>
              <a:schemeClr val="bg1"/>
            </a:extrusionClr>
            <a:contourClr>
              <a:schemeClr val="bg1"/>
            </a:contourClr>
          </a:sp3d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98E033E-2D55-749A-7613-176FB0196AB2}"/>
              </a:ext>
            </a:extLst>
          </p:cNvPr>
          <p:cNvSpPr txBox="1"/>
          <p:nvPr/>
        </p:nvSpPr>
        <p:spPr>
          <a:xfrm>
            <a:off x="1054878" y="6179006"/>
            <a:ext cx="42876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solidFill>
                  <a:srgbClr val="4F3347"/>
                </a:solidFill>
                <a:latin typeface="Candara" panose="020E0502030303020204" pitchFamily="34" charset="0"/>
              </a:rPr>
              <a:t>Окно входа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4FC0A7-9E7F-791D-E3AC-2838348D725C}"/>
              </a:ext>
            </a:extLst>
          </p:cNvPr>
          <p:cNvSpPr txBox="1"/>
          <p:nvPr/>
        </p:nvSpPr>
        <p:spPr>
          <a:xfrm>
            <a:off x="6706749" y="6179006"/>
            <a:ext cx="42876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solidFill>
                  <a:srgbClr val="4F3347"/>
                </a:solidFill>
                <a:latin typeface="Candara" panose="020E0502030303020204" pitchFamily="34" charset="0"/>
              </a:rPr>
              <a:t>Выбор восстановления пароля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2A5D8EF-C99F-5AFD-1087-77FAA7ECDC73}"/>
              </a:ext>
            </a:extLst>
          </p:cNvPr>
          <p:cNvSpPr/>
          <p:nvPr/>
        </p:nvSpPr>
        <p:spPr>
          <a:xfrm>
            <a:off x="4956975" y="215546"/>
            <a:ext cx="227806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4400" dirty="0">
                <a:ln w="0"/>
                <a:solidFill>
                  <a:srgbClr val="4F3347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МАКЕТЫ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9B2025E-FC7E-99D0-5671-F2F076FD7B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0592" y="1211654"/>
            <a:ext cx="3991903" cy="471249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2F59502-F5E3-F7E1-7504-17853F4E8C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6749" y="1074290"/>
            <a:ext cx="4134659" cy="4896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014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7362B-322F-F15D-ED9E-A2A161315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09DA852-F3EB-1C07-A237-0CE182072E0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85" y="251849"/>
            <a:ext cx="1166932" cy="708271"/>
          </a:xfrm>
          <a:prstGeom prst="rect">
            <a:avLst/>
          </a:prstGeom>
          <a:scene3d>
            <a:camera prst="orthographicFront"/>
            <a:lightRig rig="threePt" dir="t"/>
          </a:scene3d>
          <a:sp3d prstMaterial="flat">
            <a:extrusionClr>
              <a:schemeClr val="bg1"/>
            </a:extrusionClr>
            <a:contourClr>
              <a:schemeClr val="bg1"/>
            </a:contourClr>
          </a:sp3d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6E81075-8EDD-2C27-2F8A-B505EE681B41}"/>
              </a:ext>
            </a:extLst>
          </p:cNvPr>
          <p:cNvSpPr txBox="1"/>
          <p:nvPr/>
        </p:nvSpPr>
        <p:spPr>
          <a:xfrm>
            <a:off x="122390" y="6191275"/>
            <a:ext cx="42876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solidFill>
                  <a:srgbClr val="4F3347"/>
                </a:solidFill>
                <a:latin typeface="Candara" panose="020E0502030303020204" pitchFamily="34" charset="0"/>
              </a:rPr>
              <a:t>Восстановление пароля по ключу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3C6C08-1DD0-D61F-5966-E19CE39DD618}"/>
              </a:ext>
            </a:extLst>
          </p:cNvPr>
          <p:cNvSpPr txBox="1"/>
          <p:nvPr/>
        </p:nvSpPr>
        <p:spPr>
          <a:xfrm>
            <a:off x="4630352" y="6204167"/>
            <a:ext cx="2931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solidFill>
                  <a:srgbClr val="4F3347"/>
                </a:solidFill>
                <a:latin typeface="Candara" panose="020E0502030303020204" pitchFamily="34" charset="0"/>
              </a:rPr>
              <a:t>Окно регистрации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E81E0C-C44B-91C6-636C-9D24495556FC}"/>
              </a:ext>
            </a:extLst>
          </p:cNvPr>
          <p:cNvSpPr txBox="1"/>
          <p:nvPr/>
        </p:nvSpPr>
        <p:spPr>
          <a:xfrm>
            <a:off x="8460153" y="6257563"/>
            <a:ext cx="2931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solidFill>
                  <a:srgbClr val="4F3347"/>
                </a:solidFill>
                <a:latin typeface="Candara" panose="020E0502030303020204" pitchFamily="34" charset="0"/>
              </a:rPr>
              <a:t>Подтверждение</a:t>
            </a:r>
            <a:r>
              <a:rPr lang="en-US" sz="2000" dirty="0">
                <a:solidFill>
                  <a:srgbClr val="4F3347"/>
                </a:solidFill>
                <a:latin typeface="Candara" panose="020E0502030303020204" pitchFamily="34" charset="0"/>
              </a:rPr>
              <a:t> KEY</a:t>
            </a:r>
            <a:endParaRPr lang="ru-RU" sz="2000" dirty="0">
              <a:solidFill>
                <a:srgbClr val="4F3347"/>
              </a:solidFill>
              <a:latin typeface="Candara" panose="020E0502030303020204" pitchFamily="34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B9AEF0A-D5F2-4891-18B8-33CA4FDD17D4}"/>
              </a:ext>
            </a:extLst>
          </p:cNvPr>
          <p:cNvSpPr/>
          <p:nvPr/>
        </p:nvSpPr>
        <p:spPr>
          <a:xfrm>
            <a:off x="4956975" y="215546"/>
            <a:ext cx="227806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4400" dirty="0">
                <a:ln w="0"/>
                <a:solidFill>
                  <a:srgbClr val="4F3347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МАКЕТЫ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C79906F-CE18-F1DC-1F09-4C6811B569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123" y="1225422"/>
            <a:ext cx="3958884" cy="465125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7E37753-AA83-D6E0-D4F0-82F4976588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544" y="1173679"/>
            <a:ext cx="3208770" cy="4841796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E640837-5E90-EC8A-A2F6-B2B69B3A91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7851" y="1161647"/>
            <a:ext cx="3322802" cy="5029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187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C7EEC-042E-F12E-5ECC-1E06AE13B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1A52F96-677A-07ED-0B3D-48C9AF5079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85" y="251849"/>
            <a:ext cx="1166932" cy="708271"/>
          </a:xfrm>
          <a:prstGeom prst="rect">
            <a:avLst/>
          </a:prstGeom>
          <a:scene3d>
            <a:camera prst="orthographicFront"/>
            <a:lightRig rig="threePt" dir="t"/>
          </a:scene3d>
          <a:sp3d prstMaterial="flat">
            <a:extrusionClr>
              <a:schemeClr val="bg1"/>
            </a:extrusionClr>
            <a:contourClr>
              <a:schemeClr val="bg1"/>
            </a:contourClr>
          </a:sp3d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F1BB15C-C4CE-06C4-DCF8-9E9FE867185D}"/>
              </a:ext>
            </a:extLst>
          </p:cNvPr>
          <p:cNvSpPr/>
          <p:nvPr/>
        </p:nvSpPr>
        <p:spPr>
          <a:xfrm>
            <a:off x="4956976" y="215546"/>
            <a:ext cx="2278061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4400" dirty="0">
                <a:ln w="0"/>
                <a:solidFill>
                  <a:srgbClr val="4F3347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МАКЕТЫ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55659A-7741-6489-BF0D-8E68247D4FDC}"/>
              </a:ext>
            </a:extLst>
          </p:cNvPr>
          <p:cNvSpPr txBox="1"/>
          <p:nvPr/>
        </p:nvSpPr>
        <p:spPr>
          <a:xfrm>
            <a:off x="3952191" y="6242344"/>
            <a:ext cx="42876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solidFill>
                  <a:srgbClr val="4F3347"/>
                </a:solidFill>
                <a:latin typeface="Candara" panose="020E0502030303020204" pitchFamily="34" charset="0"/>
              </a:rPr>
              <a:t>Главное окно приложения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DDD435B-99CF-AD09-B95D-82E06D6961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8732" y="1097249"/>
            <a:ext cx="7954536" cy="4970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082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61309-EBAD-89F0-9992-62AAD8977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F22C6DD-57E2-4890-4BDB-E9C2775D06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85" y="251849"/>
            <a:ext cx="1166932" cy="708271"/>
          </a:xfrm>
          <a:prstGeom prst="rect">
            <a:avLst/>
          </a:prstGeom>
          <a:scene3d>
            <a:camera prst="orthographicFront"/>
            <a:lightRig rig="threePt" dir="t"/>
          </a:scene3d>
          <a:sp3d prstMaterial="flat">
            <a:extrusionClr>
              <a:schemeClr val="bg1"/>
            </a:extrusionClr>
            <a:contourClr>
              <a:schemeClr val="bg1"/>
            </a:contourClr>
          </a:sp3d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257EADA-7824-E46E-AA86-7B2EBA9AFA6F}"/>
              </a:ext>
            </a:extLst>
          </p:cNvPr>
          <p:cNvSpPr/>
          <p:nvPr/>
        </p:nvSpPr>
        <p:spPr>
          <a:xfrm>
            <a:off x="4956976" y="215546"/>
            <a:ext cx="2278061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4400" dirty="0">
                <a:ln w="0"/>
                <a:solidFill>
                  <a:srgbClr val="4F3347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МАКЕТЫ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72D68D-DBEA-8B6D-F7E4-01A4B4A68431}"/>
              </a:ext>
            </a:extLst>
          </p:cNvPr>
          <p:cNvSpPr txBox="1"/>
          <p:nvPr/>
        </p:nvSpPr>
        <p:spPr>
          <a:xfrm>
            <a:off x="3952191" y="6242344"/>
            <a:ext cx="42876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solidFill>
                  <a:srgbClr val="4F3347"/>
                </a:solidFill>
                <a:latin typeface="Candara" panose="020E0502030303020204" pitchFamily="34" charset="0"/>
              </a:rPr>
              <a:t>Страница каталога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DEADCCF-6C90-31CF-84CD-3D3E406C12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0217" y="1148814"/>
            <a:ext cx="8211563" cy="4929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872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5F4B6-D9F6-E69E-D3BD-0E4258725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40FF02C-5C97-C571-CF70-2C11EC2FCA8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85" y="251849"/>
            <a:ext cx="1166932" cy="708271"/>
          </a:xfrm>
          <a:prstGeom prst="rect">
            <a:avLst/>
          </a:prstGeom>
          <a:scene3d>
            <a:camera prst="orthographicFront"/>
            <a:lightRig rig="threePt" dir="t"/>
          </a:scene3d>
          <a:sp3d prstMaterial="flat">
            <a:extrusionClr>
              <a:schemeClr val="bg1"/>
            </a:extrusionClr>
            <a:contourClr>
              <a:schemeClr val="bg1"/>
            </a:contourClr>
          </a:sp3d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19B66A7-33D6-B9CB-5B8F-6A48CA210A0F}"/>
              </a:ext>
            </a:extLst>
          </p:cNvPr>
          <p:cNvSpPr/>
          <p:nvPr/>
        </p:nvSpPr>
        <p:spPr>
          <a:xfrm>
            <a:off x="4956976" y="215546"/>
            <a:ext cx="2278061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4400" dirty="0">
                <a:ln w="0"/>
                <a:solidFill>
                  <a:srgbClr val="4F3347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МАКЕТЫ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50C962-A2AA-B285-6AC1-9BEC6031F7C1}"/>
              </a:ext>
            </a:extLst>
          </p:cNvPr>
          <p:cNvSpPr txBox="1"/>
          <p:nvPr/>
        </p:nvSpPr>
        <p:spPr>
          <a:xfrm>
            <a:off x="3952190" y="6092789"/>
            <a:ext cx="42876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solidFill>
                  <a:srgbClr val="4F3347"/>
                </a:solidFill>
                <a:latin typeface="Candara" panose="020E0502030303020204" pitchFamily="34" charset="0"/>
              </a:rPr>
              <a:t>Страница игры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467ED74-01C2-B6E9-5546-44703D828B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5708" y="1110608"/>
            <a:ext cx="8060582" cy="4856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880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873A3-24EF-4C65-25FF-C1BBF922B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F0FB4E3-40FC-6A35-70AC-E2DD3F4040F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85" y="251849"/>
            <a:ext cx="1166932" cy="708271"/>
          </a:xfrm>
          <a:prstGeom prst="rect">
            <a:avLst/>
          </a:prstGeom>
          <a:scene3d>
            <a:camera prst="orthographicFront"/>
            <a:lightRig rig="threePt" dir="t"/>
          </a:scene3d>
          <a:sp3d prstMaterial="flat">
            <a:extrusionClr>
              <a:schemeClr val="bg1"/>
            </a:extrusionClr>
            <a:contourClr>
              <a:schemeClr val="bg1"/>
            </a:contourClr>
          </a:sp3d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64D4456-E0BC-11FC-ADC6-E2128C6BB209}"/>
              </a:ext>
            </a:extLst>
          </p:cNvPr>
          <p:cNvSpPr/>
          <p:nvPr/>
        </p:nvSpPr>
        <p:spPr>
          <a:xfrm>
            <a:off x="4956976" y="215546"/>
            <a:ext cx="2278061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4400" dirty="0">
                <a:ln w="0"/>
                <a:solidFill>
                  <a:srgbClr val="4F3347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МАКЕТЫ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4B0E02-6682-3604-C46C-EF8AAF136117}"/>
              </a:ext>
            </a:extLst>
          </p:cNvPr>
          <p:cNvSpPr txBox="1"/>
          <p:nvPr/>
        </p:nvSpPr>
        <p:spPr>
          <a:xfrm>
            <a:off x="3072077" y="6338421"/>
            <a:ext cx="60478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solidFill>
                  <a:srgbClr val="4F3347"/>
                </a:solidFill>
                <a:latin typeface="Candara" panose="020E0502030303020204" pitchFamily="34" charset="0"/>
              </a:rPr>
              <a:t>Страница игры после добавления в библиотеку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A21F756-0809-DC48-4BD8-5715F7A013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0067" y="925814"/>
            <a:ext cx="8931864" cy="5375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315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E632F-1435-6279-52D6-304D48546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971A159-6C48-06B6-88D5-A90E9134A59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85" y="251849"/>
            <a:ext cx="1166932" cy="708271"/>
          </a:xfrm>
          <a:prstGeom prst="rect">
            <a:avLst/>
          </a:prstGeom>
          <a:scene3d>
            <a:camera prst="orthographicFront"/>
            <a:lightRig rig="threePt" dir="t"/>
          </a:scene3d>
          <a:sp3d prstMaterial="flat">
            <a:extrusionClr>
              <a:schemeClr val="bg1"/>
            </a:extrusionClr>
            <a:contourClr>
              <a:schemeClr val="bg1"/>
            </a:contourClr>
          </a:sp3d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C74B1FA-CE0D-F834-891A-ADF52B22CB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3200" y="1098697"/>
            <a:ext cx="3174792" cy="5322369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2D6F6EF-A732-1A1A-2320-E3CD6F1537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7753" y="984988"/>
            <a:ext cx="2600528" cy="5324260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F3D4778-2AA5-6A0B-0A50-203E628A83E5}"/>
              </a:ext>
            </a:extLst>
          </p:cNvPr>
          <p:cNvSpPr/>
          <p:nvPr/>
        </p:nvSpPr>
        <p:spPr>
          <a:xfrm>
            <a:off x="3148410" y="215546"/>
            <a:ext cx="5895204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4400" dirty="0">
                <a:ln w="0"/>
                <a:solidFill>
                  <a:srgbClr val="4F3347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ИТОГОВЫЙ ИНТЕРФЕЙС</a:t>
            </a:r>
          </a:p>
        </p:txBody>
      </p:sp>
    </p:spTree>
    <p:extLst>
      <p:ext uri="{BB962C8B-B14F-4D97-AF65-F5344CB8AC3E}">
        <p14:creationId xmlns:p14="http://schemas.microsoft.com/office/powerpoint/2010/main" val="3751456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3BEA3-9CC2-71A9-ED0E-04FB396AE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59862CD-B370-891B-F199-16786B8F332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85" y="251849"/>
            <a:ext cx="1166932" cy="708271"/>
          </a:xfrm>
          <a:prstGeom prst="rect">
            <a:avLst/>
          </a:prstGeom>
          <a:scene3d>
            <a:camera prst="orthographicFront"/>
            <a:lightRig rig="threePt" dir="t"/>
          </a:scene3d>
          <a:sp3d prstMaterial="flat">
            <a:extrusionClr>
              <a:schemeClr val="bg1"/>
            </a:extrusionClr>
            <a:contourClr>
              <a:schemeClr val="bg1"/>
            </a:contourClr>
          </a:sp3d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3D1FCC6-DB6F-B287-6B0C-C2AA9E5DC23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205"/>
          <a:stretch/>
        </p:blipFill>
        <p:spPr bwMode="auto">
          <a:xfrm>
            <a:off x="2691529" y="1444604"/>
            <a:ext cx="6808942" cy="467422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751E498-9F6B-B7F2-B70F-45C9B33F7BCD}"/>
              </a:ext>
            </a:extLst>
          </p:cNvPr>
          <p:cNvSpPr/>
          <p:nvPr/>
        </p:nvSpPr>
        <p:spPr>
          <a:xfrm>
            <a:off x="3148410" y="215546"/>
            <a:ext cx="5895204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4400" dirty="0">
                <a:ln w="0"/>
                <a:solidFill>
                  <a:srgbClr val="4F3347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ИТОГОВЫЙ ИНТЕРФЕЙС</a:t>
            </a:r>
          </a:p>
        </p:txBody>
      </p:sp>
    </p:spTree>
    <p:extLst>
      <p:ext uri="{BB962C8B-B14F-4D97-AF65-F5344CB8AC3E}">
        <p14:creationId xmlns:p14="http://schemas.microsoft.com/office/powerpoint/2010/main" val="694418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8D5E9-227D-6C79-AE39-6F7686CAB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75CF3BB-8115-BDF0-1644-76730FF4EEC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85" y="251849"/>
            <a:ext cx="1166932" cy="708271"/>
          </a:xfrm>
          <a:prstGeom prst="rect">
            <a:avLst/>
          </a:prstGeom>
          <a:scene3d>
            <a:camera prst="orthographicFront"/>
            <a:lightRig rig="threePt" dir="t"/>
          </a:scene3d>
          <a:sp3d prstMaterial="flat">
            <a:extrusionClr>
              <a:schemeClr val="bg1"/>
            </a:extrusionClr>
            <a:contourClr>
              <a:schemeClr val="bg1"/>
            </a:contourClr>
          </a:sp3d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E85309D-A3B1-AF7D-C5C5-E41F907CF3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545" y="1343524"/>
            <a:ext cx="4131115" cy="507913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A219F51-0E18-8469-F081-B133478F8F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6342" y="1343524"/>
            <a:ext cx="3446530" cy="530359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292D7AC-026B-9377-95F8-110D92134A3B}"/>
              </a:ext>
            </a:extLst>
          </p:cNvPr>
          <p:cNvSpPr/>
          <p:nvPr/>
        </p:nvSpPr>
        <p:spPr>
          <a:xfrm>
            <a:off x="3148410" y="215546"/>
            <a:ext cx="5895204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4400" dirty="0">
                <a:ln w="0"/>
                <a:solidFill>
                  <a:srgbClr val="4F3347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ИТОГОВЫЙ ИНТЕРФЕЙС</a:t>
            </a:r>
          </a:p>
        </p:txBody>
      </p:sp>
    </p:spTree>
    <p:extLst>
      <p:ext uri="{BB962C8B-B14F-4D97-AF65-F5344CB8AC3E}">
        <p14:creationId xmlns:p14="http://schemas.microsoft.com/office/powerpoint/2010/main" val="4071875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17702-526E-97D1-5724-057096F47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1F33F53-113B-9B21-9F91-7C966C8E3AC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85" y="251849"/>
            <a:ext cx="1166932" cy="708271"/>
          </a:xfrm>
          <a:prstGeom prst="rect">
            <a:avLst/>
          </a:prstGeom>
          <a:scene3d>
            <a:camera prst="orthographicFront"/>
            <a:lightRig rig="threePt" dir="t"/>
          </a:scene3d>
          <a:sp3d prstMaterial="flat">
            <a:extrusionClr>
              <a:schemeClr val="bg1"/>
            </a:extrusionClr>
            <a:contourClr>
              <a:schemeClr val="bg1"/>
            </a:contourClr>
          </a:sp3d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B4D0F45-5AB4-99FD-6633-AE1738D87A15}"/>
              </a:ext>
            </a:extLst>
          </p:cNvPr>
          <p:cNvSpPr/>
          <p:nvPr/>
        </p:nvSpPr>
        <p:spPr>
          <a:xfrm>
            <a:off x="3148410" y="215546"/>
            <a:ext cx="5895204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4400" dirty="0">
                <a:ln w="0"/>
                <a:solidFill>
                  <a:srgbClr val="4F3347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ИТОГОВЫЙ ИНТЕРФЕЙС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4F46F1C-A40F-2D11-D57F-6B98922888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173" y="1343524"/>
            <a:ext cx="4107017" cy="505695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AEAF25E-31FF-9140-DFDB-F61AAD6153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1692" y="1343523"/>
            <a:ext cx="4107016" cy="4999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556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05214-A57A-16CA-C82B-67259B2F9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26CF3B4-2B7B-1845-AF5A-9BF928EA435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85" y="251849"/>
            <a:ext cx="1166932" cy="708271"/>
          </a:xfrm>
          <a:prstGeom prst="rect">
            <a:avLst/>
          </a:prstGeom>
          <a:scene3d>
            <a:camera prst="orthographicFront"/>
            <a:lightRig rig="threePt" dir="t"/>
          </a:scene3d>
          <a:sp3d prstMaterial="flat">
            <a:extrusionClr>
              <a:schemeClr val="bg1"/>
            </a:extrusionClr>
            <a:contourClr>
              <a:schemeClr val="bg1"/>
            </a:contourClr>
          </a:sp3d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0B890BA-EA8D-59E6-6499-F65F5E127601}"/>
              </a:ext>
            </a:extLst>
          </p:cNvPr>
          <p:cNvSpPr/>
          <p:nvPr/>
        </p:nvSpPr>
        <p:spPr>
          <a:xfrm>
            <a:off x="3148410" y="215546"/>
            <a:ext cx="5895204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4400" dirty="0">
                <a:ln w="0"/>
                <a:solidFill>
                  <a:srgbClr val="4F3347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ИТОГОВЫЙ ИНТЕРФЕЙС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0FF3A5A-9606-E274-C702-65338E7249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2105" y="1691958"/>
            <a:ext cx="9087790" cy="4479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563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9907B-869F-C4BE-90B0-65A126EE3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7814211-3E21-A75B-9A2D-4578BF293E2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85" y="251849"/>
            <a:ext cx="1166932" cy="708271"/>
          </a:xfrm>
          <a:prstGeom prst="rect">
            <a:avLst/>
          </a:prstGeom>
          <a:scene3d>
            <a:camera prst="orthographicFront"/>
            <a:lightRig rig="threePt" dir="t"/>
          </a:scene3d>
          <a:sp3d prstMaterial="flat">
            <a:extrusionClr>
              <a:schemeClr val="bg1"/>
            </a:extrusionClr>
            <a:contourClr>
              <a:schemeClr val="bg1"/>
            </a:contourClr>
          </a:sp3d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808E006-942C-0215-4197-83E4870FBF4E}"/>
              </a:ext>
            </a:extLst>
          </p:cNvPr>
          <p:cNvSpPr/>
          <p:nvPr/>
        </p:nvSpPr>
        <p:spPr>
          <a:xfrm>
            <a:off x="3148410" y="215546"/>
            <a:ext cx="5895204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4400" dirty="0">
                <a:ln w="0"/>
                <a:solidFill>
                  <a:srgbClr val="4F3347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ИТОГОВЫЙ ИНТЕРФЕЙС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AA1A13F-BA8C-40D8-2AF6-6A337D4A5B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0726" y="1658214"/>
            <a:ext cx="9330548" cy="4669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267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FBC80-873B-D11D-F9C6-767A15DE9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CB3EB73-B861-C599-584D-787217754E4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85" y="251849"/>
            <a:ext cx="1166932" cy="708271"/>
          </a:xfrm>
          <a:prstGeom prst="rect">
            <a:avLst/>
          </a:prstGeom>
          <a:scene3d>
            <a:camera prst="orthographicFront"/>
            <a:lightRig rig="threePt" dir="t"/>
          </a:scene3d>
          <a:sp3d prstMaterial="flat">
            <a:extrusionClr>
              <a:schemeClr val="bg1"/>
            </a:extrusionClr>
            <a:contourClr>
              <a:schemeClr val="bg1"/>
            </a:contourClr>
          </a:sp3d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4E6551A-C5A2-76C4-AD5B-353B4BA83690}"/>
              </a:ext>
            </a:extLst>
          </p:cNvPr>
          <p:cNvSpPr/>
          <p:nvPr/>
        </p:nvSpPr>
        <p:spPr>
          <a:xfrm>
            <a:off x="3148410" y="215546"/>
            <a:ext cx="5895204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4400" dirty="0">
                <a:ln w="0"/>
                <a:solidFill>
                  <a:srgbClr val="4F3347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ИТОГОВЫЙ ИНТЕРФЕЙС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30891A7-FB84-5926-A655-63CD5B7867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9479" y="1555304"/>
            <a:ext cx="9193042" cy="4600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488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4F1CB-6191-23F7-BD37-021B66DBC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FF21DE1-D5B2-27C1-9225-4DFDF96B14C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85" y="251849"/>
            <a:ext cx="1166932" cy="708271"/>
          </a:xfrm>
          <a:prstGeom prst="rect">
            <a:avLst/>
          </a:prstGeom>
          <a:scene3d>
            <a:camera prst="orthographicFront"/>
            <a:lightRig rig="threePt" dir="t"/>
          </a:scene3d>
          <a:sp3d prstMaterial="flat">
            <a:extrusionClr>
              <a:schemeClr val="bg1"/>
            </a:extrusionClr>
            <a:contourClr>
              <a:schemeClr val="bg1"/>
            </a:contourClr>
          </a:sp3d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4DC705D-BDDF-E813-557B-9B4232CE675B}"/>
              </a:ext>
            </a:extLst>
          </p:cNvPr>
          <p:cNvSpPr/>
          <p:nvPr/>
        </p:nvSpPr>
        <p:spPr>
          <a:xfrm>
            <a:off x="3148410" y="215546"/>
            <a:ext cx="5895204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4400" dirty="0">
                <a:ln w="0"/>
                <a:solidFill>
                  <a:srgbClr val="4F3347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ИТОГОВЫЙ ИНТЕРФЕЙС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832519E-12C4-65FC-20A1-20315A5791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6795" y="1624052"/>
            <a:ext cx="9478410" cy="4747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090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44770-A41F-4298-D616-9DB314EC1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E1D1630-3E3C-288E-302C-3E289113554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85" y="251849"/>
            <a:ext cx="1166932" cy="708271"/>
          </a:xfrm>
          <a:prstGeom prst="rect">
            <a:avLst/>
          </a:prstGeom>
          <a:scene3d>
            <a:camera prst="orthographicFront"/>
            <a:lightRig rig="threePt" dir="t"/>
          </a:scene3d>
          <a:sp3d prstMaterial="flat">
            <a:extrusionClr>
              <a:schemeClr val="bg1"/>
            </a:extrusionClr>
            <a:contourClr>
              <a:schemeClr val="bg1"/>
            </a:contourClr>
          </a:sp3d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EDC8DA2-6E40-FA1D-115B-A296A8F3E1DB}"/>
              </a:ext>
            </a:extLst>
          </p:cNvPr>
          <p:cNvSpPr/>
          <p:nvPr/>
        </p:nvSpPr>
        <p:spPr>
          <a:xfrm>
            <a:off x="3148410" y="215546"/>
            <a:ext cx="5895204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4400" dirty="0">
                <a:ln w="0"/>
                <a:solidFill>
                  <a:srgbClr val="4F3347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ИТОГОВЫЙ ИНТЕРФЕЙС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9A94C3B-DE75-CF23-A48A-44D7360E550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8687" r="33079"/>
          <a:stretch/>
        </p:blipFill>
        <p:spPr bwMode="auto">
          <a:xfrm>
            <a:off x="1175040" y="1334402"/>
            <a:ext cx="3946740" cy="515590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C70EB9D-3D84-6F58-1722-ACAC3D0D2B8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9639" r="28509"/>
          <a:stretch/>
        </p:blipFill>
        <p:spPr bwMode="auto">
          <a:xfrm>
            <a:off x="6861245" y="1342140"/>
            <a:ext cx="4286230" cy="514816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148573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0EBA0-B01F-CD73-C312-443F34C3C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CA6EAE6-7821-251C-3467-D1C70DB6926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85" y="251849"/>
            <a:ext cx="1166932" cy="708271"/>
          </a:xfrm>
          <a:prstGeom prst="rect">
            <a:avLst/>
          </a:prstGeom>
          <a:scene3d>
            <a:camera prst="orthographicFront"/>
            <a:lightRig rig="threePt" dir="t"/>
          </a:scene3d>
          <a:sp3d prstMaterial="flat">
            <a:extrusionClr>
              <a:schemeClr val="bg1"/>
            </a:extrusionClr>
            <a:contourClr>
              <a:schemeClr val="bg1"/>
            </a:contourClr>
          </a:sp3d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345605A-A393-52B5-E68E-30035A61D168}"/>
              </a:ext>
            </a:extLst>
          </p:cNvPr>
          <p:cNvSpPr/>
          <p:nvPr/>
        </p:nvSpPr>
        <p:spPr>
          <a:xfrm>
            <a:off x="3148410" y="215546"/>
            <a:ext cx="5895204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4400" dirty="0">
                <a:ln w="0"/>
                <a:solidFill>
                  <a:srgbClr val="4F3347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ИТОГОВЫЙ ИНТЕРФЕЙС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A22F08D-3A10-058B-0EC9-C7BB212BC95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8687" r="33079"/>
          <a:stretch/>
        </p:blipFill>
        <p:spPr bwMode="auto">
          <a:xfrm>
            <a:off x="1175040" y="1334402"/>
            <a:ext cx="3946740" cy="515590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EEB580D-8E40-16AF-1353-42D0C926951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9639" r="28509"/>
          <a:stretch/>
        </p:blipFill>
        <p:spPr bwMode="auto">
          <a:xfrm>
            <a:off x="6861245" y="1342140"/>
            <a:ext cx="4286230" cy="514816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590694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2B010-5E88-CC71-3366-9A8BCCD79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BF28523-7217-D74A-BB08-B83435C2AAE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85" y="251849"/>
            <a:ext cx="1166932" cy="708271"/>
          </a:xfrm>
          <a:prstGeom prst="rect">
            <a:avLst/>
          </a:prstGeom>
          <a:scene3d>
            <a:camera prst="orthographicFront"/>
            <a:lightRig rig="threePt" dir="t"/>
          </a:scene3d>
          <a:sp3d prstMaterial="flat">
            <a:extrusionClr>
              <a:schemeClr val="bg1"/>
            </a:extrusionClr>
            <a:contourClr>
              <a:schemeClr val="bg1"/>
            </a:contourClr>
          </a:sp3d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95ECAD4-3641-D564-B4A3-EC70086A7DD9}"/>
              </a:ext>
            </a:extLst>
          </p:cNvPr>
          <p:cNvSpPr/>
          <p:nvPr/>
        </p:nvSpPr>
        <p:spPr>
          <a:xfrm>
            <a:off x="3148410" y="215546"/>
            <a:ext cx="5895204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4400" dirty="0">
                <a:ln w="0"/>
                <a:solidFill>
                  <a:srgbClr val="4F3347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ИТОГОВЫЙ ИНТЕРФЕЙС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8FB047D-D39C-4562-EFDA-E8B111B2F2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308" y="1104644"/>
            <a:ext cx="10269383" cy="511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619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AB634-AFDC-F479-C13B-905AB6867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38555A6-8675-C280-6481-C6F941EB06D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85" y="251849"/>
            <a:ext cx="1166932" cy="708271"/>
          </a:xfrm>
          <a:prstGeom prst="rect">
            <a:avLst/>
          </a:prstGeom>
          <a:scene3d>
            <a:camera prst="orthographicFront"/>
            <a:lightRig rig="threePt" dir="t"/>
          </a:scene3d>
          <a:sp3d prstMaterial="flat">
            <a:extrusionClr>
              <a:schemeClr val="bg1"/>
            </a:extrusionClr>
            <a:contourClr>
              <a:schemeClr val="bg1"/>
            </a:contourClr>
          </a:sp3d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6A81D46-2A13-671F-9415-BD12782104F4}"/>
              </a:ext>
            </a:extLst>
          </p:cNvPr>
          <p:cNvSpPr/>
          <p:nvPr/>
        </p:nvSpPr>
        <p:spPr>
          <a:xfrm>
            <a:off x="3148410" y="215546"/>
            <a:ext cx="5895204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4400" dirty="0">
                <a:ln w="0"/>
                <a:solidFill>
                  <a:srgbClr val="4F3347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ИТОГОВЫЙ ИНТЕРФЕЙС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EDF9533-9FA2-5CB7-0F2D-4CD841E23A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8420" y="1557682"/>
            <a:ext cx="9375160" cy="4561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329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B572D-CB52-F514-0D6A-2C9439530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4976BB2-F7D7-21CE-FCA1-0367E82E3C1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85" y="251849"/>
            <a:ext cx="1166932" cy="708271"/>
          </a:xfrm>
          <a:prstGeom prst="rect">
            <a:avLst/>
          </a:prstGeom>
          <a:scene3d>
            <a:camera prst="orthographicFront"/>
            <a:lightRig rig="threePt" dir="t"/>
          </a:scene3d>
          <a:sp3d prstMaterial="flat">
            <a:extrusionClr>
              <a:schemeClr val="bg1"/>
            </a:extrusionClr>
            <a:contourClr>
              <a:schemeClr val="bg1"/>
            </a:contourClr>
          </a:sp3d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A1E650C-2E60-E88E-3818-743FA7D5C188}"/>
              </a:ext>
            </a:extLst>
          </p:cNvPr>
          <p:cNvSpPr/>
          <p:nvPr/>
        </p:nvSpPr>
        <p:spPr>
          <a:xfrm>
            <a:off x="3148410" y="215546"/>
            <a:ext cx="5895204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4400" dirty="0">
                <a:ln w="0"/>
                <a:solidFill>
                  <a:srgbClr val="4F3347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ИТОГОВЫЙ ИНТЕРФЕЙС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BF48631-C314-5E8E-965A-82555698F0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4020" y="1411692"/>
            <a:ext cx="9243959" cy="4971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70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EF3D6-75E0-FAD4-B975-FADB5A3BF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2949CCB-85BE-FB92-D982-1512C2A33F5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85" y="251849"/>
            <a:ext cx="1166932" cy="708271"/>
          </a:xfrm>
          <a:prstGeom prst="rect">
            <a:avLst/>
          </a:prstGeom>
          <a:scene3d>
            <a:camera prst="orthographicFront"/>
            <a:lightRig rig="threePt" dir="t"/>
          </a:scene3d>
          <a:sp3d prstMaterial="flat">
            <a:extrusionClr>
              <a:schemeClr val="bg1"/>
            </a:extrusionClr>
            <a:contourClr>
              <a:schemeClr val="bg1"/>
            </a:contourClr>
          </a:sp3d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EFC0684-5E2F-A015-17EB-DF97B2E1AB91}"/>
              </a:ext>
            </a:extLst>
          </p:cNvPr>
          <p:cNvSpPr/>
          <p:nvPr/>
        </p:nvSpPr>
        <p:spPr>
          <a:xfrm>
            <a:off x="3148410" y="215546"/>
            <a:ext cx="5895204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4400" dirty="0">
                <a:ln w="0"/>
                <a:solidFill>
                  <a:srgbClr val="4F3347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ИТОГОВЫЙ ИНТЕРФЕЙС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006E416-6535-7714-E536-487B4E76FD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4050" y="1394203"/>
            <a:ext cx="9423899" cy="5058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824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DE02B-057E-7591-5CDF-384805A3E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CFBEFE1-97B7-121A-A615-CB94615DCE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85" y="251849"/>
            <a:ext cx="1166932" cy="708271"/>
          </a:xfrm>
          <a:prstGeom prst="rect">
            <a:avLst/>
          </a:prstGeom>
          <a:scene3d>
            <a:camera prst="orthographicFront"/>
            <a:lightRig rig="threePt" dir="t"/>
          </a:scene3d>
          <a:sp3d prstMaterial="flat">
            <a:extrusionClr>
              <a:schemeClr val="bg1"/>
            </a:extrusionClr>
            <a:contourClr>
              <a:schemeClr val="bg1"/>
            </a:contourClr>
          </a:sp3d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CD2E46B-D178-CAFA-986A-7BD8E15AC4FF}"/>
              </a:ext>
            </a:extLst>
          </p:cNvPr>
          <p:cNvSpPr/>
          <p:nvPr/>
        </p:nvSpPr>
        <p:spPr>
          <a:xfrm>
            <a:off x="3148410" y="215546"/>
            <a:ext cx="5895204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4400" dirty="0">
                <a:ln w="0"/>
                <a:solidFill>
                  <a:srgbClr val="4F3347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ИТОГОВЫЙ ИНТЕРФЕЙС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059FA66-57E3-5495-71BC-0AA9C02DDF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6583" y="1536035"/>
            <a:ext cx="9638834" cy="4779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770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4171E-F942-BAEA-2D47-FADD964E2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26B554E-5A8B-9CDB-780F-C927DFF4EE2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85" y="251849"/>
            <a:ext cx="1166932" cy="708271"/>
          </a:xfrm>
          <a:prstGeom prst="rect">
            <a:avLst/>
          </a:prstGeom>
          <a:scene3d>
            <a:camera prst="orthographicFront"/>
            <a:lightRig rig="threePt" dir="t"/>
          </a:scene3d>
          <a:sp3d prstMaterial="flat">
            <a:extrusionClr>
              <a:schemeClr val="bg1"/>
            </a:extrusionClr>
            <a:contourClr>
              <a:schemeClr val="bg1"/>
            </a:contourClr>
          </a:sp3d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0F4A8E0-0664-990C-EF16-A4C985300E53}"/>
              </a:ext>
            </a:extLst>
          </p:cNvPr>
          <p:cNvSpPr/>
          <p:nvPr/>
        </p:nvSpPr>
        <p:spPr>
          <a:xfrm>
            <a:off x="3148410" y="215546"/>
            <a:ext cx="5895204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4400" dirty="0">
                <a:ln w="0"/>
                <a:solidFill>
                  <a:srgbClr val="4F3347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ИТОГОВЫЙ ИНТЕРФЕЙС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22DFBEF-2AAC-DE19-D0CE-0F3872810E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1419" y="1421157"/>
            <a:ext cx="9629161" cy="4788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549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74A66-88DD-693C-EA02-3F3340A18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CF69A18-E1D5-714C-A2C2-7298030C18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85" y="251849"/>
            <a:ext cx="1166932" cy="708271"/>
          </a:xfrm>
          <a:prstGeom prst="rect">
            <a:avLst/>
          </a:prstGeom>
          <a:scene3d>
            <a:camera prst="orthographicFront"/>
            <a:lightRig rig="threePt" dir="t"/>
          </a:scene3d>
          <a:sp3d prstMaterial="flat">
            <a:extrusionClr>
              <a:schemeClr val="bg1"/>
            </a:extrusionClr>
            <a:contourClr>
              <a:schemeClr val="bg1"/>
            </a:contourClr>
          </a:sp3d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97D50B8-673D-1E1F-58C2-7A500898A457}"/>
              </a:ext>
            </a:extLst>
          </p:cNvPr>
          <p:cNvSpPr/>
          <p:nvPr/>
        </p:nvSpPr>
        <p:spPr>
          <a:xfrm>
            <a:off x="3148410" y="215546"/>
            <a:ext cx="5895204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4400" dirty="0">
                <a:ln w="0"/>
                <a:solidFill>
                  <a:srgbClr val="4F3347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ИТОГОВЫЙ ИНТЕРФЕЙС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FBE1F81-91BA-8ABD-B803-229845D6A9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0247" y="1487920"/>
            <a:ext cx="9491506" cy="4741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987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D3F32-7FE4-09AC-6C8C-E0C6287D5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0B59CDE-D516-CAD5-CE6D-FE869CDA3F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85" y="251849"/>
            <a:ext cx="1166932" cy="708271"/>
          </a:xfrm>
          <a:prstGeom prst="rect">
            <a:avLst/>
          </a:prstGeom>
          <a:scene3d>
            <a:camera prst="orthographicFront"/>
            <a:lightRig rig="threePt" dir="t"/>
          </a:scene3d>
          <a:sp3d prstMaterial="flat">
            <a:extrusionClr>
              <a:schemeClr val="bg1"/>
            </a:extrusionClr>
            <a:contourClr>
              <a:schemeClr val="bg1"/>
            </a:contourClr>
          </a:sp3d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B783935-78DF-D71C-DF9D-EB3458B2A122}"/>
              </a:ext>
            </a:extLst>
          </p:cNvPr>
          <p:cNvSpPr/>
          <p:nvPr/>
        </p:nvSpPr>
        <p:spPr>
          <a:xfrm>
            <a:off x="3461657" y="221263"/>
            <a:ext cx="5268685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4400" dirty="0">
                <a:ln w="0"/>
                <a:solidFill>
                  <a:srgbClr val="4F3347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ТЕСТИРОВАНИЕ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42BDBB9-D7F5-48AA-4926-224A88FCDD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9201" y="1278026"/>
            <a:ext cx="9113595" cy="5102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01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1FC11-AB89-DE30-DFF8-C6430002E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1E77150-B10F-6CC2-CD45-8403318029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829" y="2763633"/>
            <a:ext cx="3746780" cy="3327979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0AA5C9D-7E2A-DB89-B594-C4585F0DCB1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85" y="251849"/>
            <a:ext cx="1166932" cy="708271"/>
          </a:xfrm>
          <a:prstGeom prst="rect">
            <a:avLst/>
          </a:prstGeom>
          <a:scene3d>
            <a:camera prst="orthographicFront"/>
            <a:lightRig rig="threePt" dir="t"/>
          </a:scene3d>
          <a:sp3d prstMaterial="flat">
            <a:extrusionClr>
              <a:schemeClr val="bg1"/>
            </a:extrusionClr>
            <a:contourClr>
              <a:schemeClr val="bg1"/>
            </a:contourClr>
          </a:sp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7493E67-9B73-F096-92CE-60C610B53EBB}"/>
              </a:ext>
            </a:extLst>
          </p:cNvPr>
          <p:cNvSpPr txBox="1"/>
          <p:nvPr/>
        </p:nvSpPr>
        <p:spPr>
          <a:xfrm>
            <a:off x="217085" y="1504107"/>
            <a:ext cx="453001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solidFill>
                  <a:srgbClr val="4F3347"/>
                </a:solidFill>
                <a:latin typeface="Candara" panose="020E0502030303020204" pitchFamily="34" charset="0"/>
              </a:rPr>
              <a:t>Спроектировать и разработать сервис игровых сохранений «</a:t>
            </a:r>
            <a:r>
              <a:rPr lang="en-US" sz="2400" dirty="0">
                <a:solidFill>
                  <a:srgbClr val="4F3347"/>
                </a:solidFill>
                <a:latin typeface="Candara" panose="020E0502030303020204" pitchFamily="34" charset="0"/>
              </a:rPr>
              <a:t>PlaySaveBack</a:t>
            </a:r>
            <a:r>
              <a:rPr lang="ru-RU" sz="2400" dirty="0">
                <a:solidFill>
                  <a:srgbClr val="4F3347"/>
                </a:solidFill>
                <a:latin typeface="Candara" panose="020E0502030303020204" pitchFamily="34" charset="0"/>
              </a:rPr>
              <a:t>»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F425208-9936-E850-B644-7F203886B5F2}"/>
              </a:ext>
            </a:extLst>
          </p:cNvPr>
          <p:cNvSpPr/>
          <p:nvPr/>
        </p:nvSpPr>
        <p:spPr>
          <a:xfrm>
            <a:off x="5089189" y="1504107"/>
            <a:ext cx="88677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b="1" dirty="0">
                <a:ln w="1016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01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F4D8F6-409D-BCCF-4DE8-2DED23549C70}"/>
              </a:ext>
            </a:extLst>
          </p:cNvPr>
          <p:cNvSpPr txBox="1"/>
          <p:nvPr/>
        </p:nvSpPr>
        <p:spPr>
          <a:xfrm>
            <a:off x="5975966" y="1575444"/>
            <a:ext cx="58528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4F3347"/>
                </a:solidFill>
                <a:latin typeface="Candara" panose="020E0502030303020204" pitchFamily="34" charset="0"/>
              </a:rPr>
              <a:t>Спроектировать и реализовать базу данных для сервиса с использованием СУБД </a:t>
            </a:r>
            <a:r>
              <a:rPr lang="en-US" dirty="0">
                <a:solidFill>
                  <a:srgbClr val="4F3347"/>
                </a:solidFill>
                <a:latin typeface="Candara" panose="020E0502030303020204" pitchFamily="34" charset="0"/>
              </a:rPr>
              <a:t>SQLite</a:t>
            </a:r>
            <a:endParaRPr lang="ru-RU" dirty="0">
              <a:solidFill>
                <a:srgbClr val="4F3347"/>
              </a:solidFill>
              <a:latin typeface="Candara" panose="020E0502030303020204" pitchFamily="34" charset="0"/>
            </a:endParaRP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954C5EC-2A6A-80C3-15F8-D1972003012B}"/>
              </a:ext>
            </a:extLst>
          </p:cNvPr>
          <p:cNvSpPr/>
          <p:nvPr/>
        </p:nvSpPr>
        <p:spPr>
          <a:xfrm>
            <a:off x="5089188" y="2311975"/>
            <a:ext cx="8847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b="1" dirty="0">
                <a:ln w="10160">
                  <a:solidFill>
                    <a:srgbClr val="7030A0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02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304414-C902-1018-A4D2-A2ECF294DE65}"/>
              </a:ext>
            </a:extLst>
          </p:cNvPr>
          <p:cNvSpPr txBox="1"/>
          <p:nvPr/>
        </p:nvSpPr>
        <p:spPr>
          <a:xfrm>
            <a:off x="5975966" y="2576388"/>
            <a:ext cx="60571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4F3347"/>
                </a:solidFill>
                <a:latin typeface="Candara" panose="020E0502030303020204" pitchFamily="34" charset="0"/>
              </a:rPr>
              <a:t>Разработать </a:t>
            </a:r>
            <a:r>
              <a:rPr lang="en-US" dirty="0">
                <a:solidFill>
                  <a:srgbClr val="4F3347"/>
                </a:solidFill>
                <a:latin typeface="Candara" panose="020E0502030303020204" pitchFamily="34" charset="0"/>
              </a:rPr>
              <a:t>API</a:t>
            </a:r>
            <a:r>
              <a:rPr lang="ru-RU" dirty="0">
                <a:solidFill>
                  <a:srgbClr val="4F3347"/>
                </a:solidFill>
                <a:latin typeface="Candara" panose="020E0502030303020204" pitchFamily="34" charset="0"/>
              </a:rPr>
              <a:t> сервиса на основе фреймворка </a:t>
            </a:r>
            <a:r>
              <a:rPr lang="en-US" dirty="0">
                <a:solidFill>
                  <a:srgbClr val="4F3347"/>
                </a:solidFill>
                <a:latin typeface="Candara" panose="020E0502030303020204" pitchFamily="34" charset="0"/>
              </a:rPr>
              <a:t>Laravel 12</a:t>
            </a:r>
            <a:endParaRPr lang="ru-RU" dirty="0">
              <a:solidFill>
                <a:srgbClr val="4F3347"/>
              </a:solidFill>
              <a:latin typeface="Candara" panose="020E0502030303020204" pitchFamily="34" charset="0"/>
            </a:endParaRP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F79EAC8E-A6AF-F8F9-1080-AAC5D3490A48}"/>
              </a:ext>
            </a:extLst>
          </p:cNvPr>
          <p:cNvSpPr/>
          <p:nvPr/>
        </p:nvSpPr>
        <p:spPr>
          <a:xfrm>
            <a:off x="5089188" y="3119843"/>
            <a:ext cx="8847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b="1" dirty="0">
                <a:ln w="10160">
                  <a:solidFill>
                    <a:srgbClr val="FF0000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03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EA8277-5A90-0872-BB6F-FE51316C3741}"/>
              </a:ext>
            </a:extLst>
          </p:cNvPr>
          <p:cNvSpPr txBox="1"/>
          <p:nvPr/>
        </p:nvSpPr>
        <p:spPr>
          <a:xfrm>
            <a:off x="5975966" y="3258342"/>
            <a:ext cx="58528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4F3347"/>
                </a:solidFill>
                <a:latin typeface="Candara" panose="020E0502030303020204" pitchFamily="34" charset="0"/>
              </a:rPr>
              <a:t>Создать десктопное приложение для клиента с использованием платформы </a:t>
            </a:r>
            <a:r>
              <a:rPr lang="en-US" dirty="0" err="1">
                <a:solidFill>
                  <a:srgbClr val="4F3347"/>
                </a:solidFill>
                <a:latin typeface="Candara" panose="020E0502030303020204" pitchFamily="34" charset="0"/>
              </a:rPr>
              <a:t>WinUI</a:t>
            </a:r>
            <a:r>
              <a:rPr lang="en-US" dirty="0">
                <a:solidFill>
                  <a:srgbClr val="4F3347"/>
                </a:solidFill>
                <a:latin typeface="Candara" panose="020E0502030303020204" pitchFamily="34" charset="0"/>
              </a:rPr>
              <a:t> 3</a:t>
            </a:r>
            <a:endParaRPr lang="ru-RU" dirty="0">
              <a:solidFill>
                <a:srgbClr val="4F3347"/>
              </a:solidFill>
              <a:latin typeface="Candara" panose="020E0502030303020204" pitchFamily="34" charset="0"/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DF8DE8C4-4B41-4111-6522-1028A816D683}"/>
              </a:ext>
            </a:extLst>
          </p:cNvPr>
          <p:cNvSpPr/>
          <p:nvPr/>
        </p:nvSpPr>
        <p:spPr>
          <a:xfrm>
            <a:off x="5089188" y="3898795"/>
            <a:ext cx="8847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b="1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04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9AEE9D-A79B-0F0A-7BC7-ECDB9469BB09}"/>
              </a:ext>
            </a:extLst>
          </p:cNvPr>
          <p:cNvSpPr txBox="1"/>
          <p:nvPr/>
        </p:nvSpPr>
        <p:spPr>
          <a:xfrm>
            <a:off x="5975965" y="4038815"/>
            <a:ext cx="60571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4F3347"/>
                </a:solidFill>
                <a:latin typeface="Candara" panose="020E0502030303020204" pitchFamily="34" charset="0"/>
              </a:rPr>
              <a:t>Разработать сценарии ручного тестирования десктопного приложения и провести тестирование вручную.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B9E28B48-8878-AAC3-0F1E-56A4C26C3A4C}"/>
              </a:ext>
            </a:extLst>
          </p:cNvPr>
          <p:cNvSpPr/>
          <p:nvPr/>
        </p:nvSpPr>
        <p:spPr>
          <a:xfrm>
            <a:off x="5089189" y="4638980"/>
            <a:ext cx="88479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b="1" dirty="0">
                <a:ln w="10160">
                  <a:solidFill>
                    <a:schemeClr val="accent6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05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EBAFF39-A444-FF79-5621-ADE88DB37DEF}"/>
              </a:ext>
            </a:extLst>
          </p:cNvPr>
          <p:cNvSpPr txBox="1"/>
          <p:nvPr/>
        </p:nvSpPr>
        <p:spPr>
          <a:xfrm>
            <a:off x="5975966" y="4777479"/>
            <a:ext cx="585286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4F3347"/>
                </a:solidFill>
                <a:latin typeface="Candara" panose="020E0502030303020204" pitchFamily="34" charset="0"/>
              </a:rPr>
              <a:t>Реализовать автоматизированные тесты и выполнить тестирование функциональности сервиса и приложения.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D81F4EB-FE96-0186-9510-C5AD00615DDE}"/>
              </a:ext>
            </a:extLst>
          </p:cNvPr>
          <p:cNvSpPr/>
          <p:nvPr/>
        </p:nvSpPr>
        <p:spPr>
          <a:xfrm>
            <a:off x="5089189" y="5510173"/>
            <a:ext cx="88479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b="1" dirty="0">
                <a:ln w="10160">
                  <a:solidFill>
                    <a:srgbClr val="002060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06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E1945B-FE05-C7C4-4692-04834130411A}"/>
              </a:ext>
            </a:extLst>
          </p:cNvPr>
          <p:cNvSpPr txBox="1"/>
          <p:nvPr/>
        </p:nvSpPr>
        <p:spPr>
          <a:xfrm>
            <a:off x="5975966" y="5700809"/>
            <a:ext cx="58528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4F3347"/>
                </a:solidFill>
                <a:latin typeface="Candara" panose="020E0502030303020204" pitchFamily="34" charset="0"/>
              </a:rPr>
              <a:t>Подготовить руководство пользователя для работы с десктопным приложением. 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E82A9E5-F398-F920-1EE6-C5230AC92C0F}"/>
              </a:ext>
            </a:extLst>
          </p:cNvPr>
          <p:cNvSpPr/>
          <p:nvPr/>
        </p:nvSpPr>
        <p:spPr>
          <a:xfrm>
            <a:off x="3461657" y="221263"/>
            <a:ext cx="5268685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4400" dirty="0">
                <a:ln w="0"/>
                <a:solidFill>
                  <a:srgbClr val="4F3347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Заключение</a:t>
            </a:r>
          </a:p>
        </p:txBody>
      </p:sp>
    </p:spTree>
    <p:extLst>
      <p:ext uri="{BB962C8B-B14F-4D97-AF65-F5344CB8AC3E}">
        <p14:creationId xmlns:p14="http://schemas.microsoft.com/office/powerpoint/2010/main" val="36396065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72474-9EEB-7587-608D-C65D8534C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0D3EC5E-97C6-FC86-5F7D-E59427F194B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85" y="251849"/>
            <a:ext cx="1166932" cy="708271"/>
          </a:xfrm>
          <a:prstGeom prst="rect">
            <a:avLst/>
          </a:prstGeom>
          <a:scene3d>
            <a:camera prst="orthographicFront"/>
            <a:lightRig rig="threePt" dir="t"/>
          </a:scene3d>
          <a:sp3d prstMaterial="flat">
            <a:extrusionClr>
              <a:schemeClr val="bg1"/>
            </a:extrusionClr>
            <a:contourClr>
              <a:schemeClr val="bg1"/>
            </a:contourClr>
          </a:sp3d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0F278D0-A517-F067-B1B9-2EC38C29DA94}"/>
              </a:ext>
            </a:extLst>
          </p:cNvPr>
          <p:cNvSpPr/>
          <p:nvPr/>
        </p:nvSpPr>
        <p:spPr>
          <a:xfrm>
            <a:off x="2164216" y="221442"/>
            <a:ext cx="7863568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4400" dirty="0">
                <a:ln w="0"/>
                <a:solidFill>
                  <a:srgbClr val="4F3347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СПАСИБО ЗА ВНИМАНИЕ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2A0701-C276-C673-391E-D3C35175CA69}"/>
              </a:ext>
            </a:extLst>
          </p:cNvPr>
          <p:cNvSpPr txBox="1"/>
          <p:nvPr/>
        </p:nvSpPr>
        <p:spPr>
          <a:xfrm>
            <a:off x="1075746" y="5707713"/>
            <a:ext cx="35119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rgbClr val="4F3347"/>
                </a:solidFill>
                <a:latin typeface="Candara" panose="020E0502030303020204" pitchFamily="34" charset="0"/>
              </a:rPr>
              <a:t>Заикин В</a:t>
            </a:r>
            <a:r>
              <a:rPr lang="en-US" sz="2800" dirty="0">
                <a:solidFill>
                  <a:srgbClr val="4F3347"/>
                </a:solidFill>
                <a:latin typeface="Candara" panose="020E0502030303020204" pitchFamily="34" charset="0"/>
              </a:rPr>
              <a:t>.</a:t>
            </a:r>
            <a:r>
              <a:rPr lang="ru-RU" sz="2800" dirty="0">
                <a:solidFill>
                  <a:srgbClr val="4F3347"/>
                </a:solidFill>
                <a:latin typeface="Candara" panose="020E0502030303020204" pitchFamily="34" charset="0"/>
              </a:rPr>
              <a:t> А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8F490210-A976-B287-BE02-B3EC217F3A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2131" y="5909721"/>
            <a:ext cx="584775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1F0852A-2BF4-4DAF-53BF-D5DF2A54E2A2}"/>
              </a:ext>
            </a:extLst>
          </p:cNvPr>
          <p:cNvSpPr txBox="1"/>
          <p:nvPr/>
        </p:nvSpPr>
        <p:spPr>
          <a:xfrm>
            <a:off x="7932608" y="5961819"/>
            <a:ext cx="60985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rgbClr val="4F3347"/>
                </a:solidFill>
                <a:latin typeface="Candara" panose="020E0502030303020204" pitchFamily="34" charset="0"/>
              </a:rPr>
              <a:t>https://vk.com/savayaqu</a:t>
            </a:r>
          </a:p>
        </p:txBody>
      </p:sp>
      <p:pic>
        <p:nvPicPr>
          <p:cNvPr id="1032" name="Picture 8" descr="Mailru, mail.ru icon - Free download on Iconfinder">
            <a:extLst>
              <a:ext uri="{FF2B5EF4-FFF2-40B4-BE49-F238E27FC236}">
                <a16:creationId xmlns:a16="http://schemas.microsoft.com/office/drawing/2014/main" id="{2CB85C3F-0F81-35A0-0B0D-F80D7035BA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5920" y="5917054"/>
            <a:ext cx="584775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B3CD37A-A727-798A-17BE-C0654EA8A188}"/>
              </a:ext>
            </a:extLst>
          </p:cNvPr>
          <p:cNvSpPr txBox="1"/>
          <p:nvPr/>
        </p:nvSpPr>
        <p:spPr>
          <a:xfrm>
            <a:off x="4156397" y="5889971"/>
            <a:ext cx="32324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F3347"/>
                </a:solidFill>
                <a:latin typeface="Candara" panose="020E0502030303020204" pitchFamily="34" charset="0"/>
              </a:rPr>
              <a:t>zcomn@mail.ru</a:t>
            </a:r>
            <a:endParaRPr lang="ru-RU" sz="3200" dirty="0">
              <a:solidFill>
                <a:srgbClr val="4F3347"/>
              </a:solidFill>
              <a:latin typeface="Candara" panose="020E0502030303020204" pitchFamily="34" charset="0"/>
            </a:endParaRP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23E3C333-2D58-37A3-3EF2-FA9070A98D0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7225" y="1027408"/>
            <a:ext cx="4803183" cy="4803183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3C6806D-CA2B-29DD-5EA9-3B284D456F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551" y="2007817"/>
            <a:ext cx="257175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782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1126</TotalTime>
  <Words>959</Words>
  <Application>Microsoft Office PowerPoint</Application>
  <PresentationFormat>Широкоэкранный</PresentationFormat>
  <Paragraphs>180</Paragraphs>
  <Slides>35</Slides>
  <Notes>34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35</vt:i4>
      </vt:variant>
    </vt:vector>
  </HeadingPairs>
  <TitlesOfParts>
    <vt:vector size="42" baseType="lpstr">
      <vt:lpstr>Arial</vt:lpstr>
      <vt:lpstr>Arial</vt:lpstr>
      <vt:lpstr>Calibri</vt:lpstr>
      <vt:lpstr>Calibri Light</vt:lpstr>
      <vt:lpstr>Candara</vt:lpstr>
      <vt:lpstr>Times New Roman</vt:lpstr>
      <vt:lpstr>Тема Office</vt:lpstr>
      <vt:lpstr>ОГБПОУ «ТОМСКИЙ ЭКОНОМИКО-ПРОМЫШЛЕННЫЙ КОЛЛЕДЖ»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Inedible Scarf</dc:creator>
  <cp:lastModifiedBy>Inedible Scarf</cp:lastModifiedBy>
  <cp:revision>14</cp:revision>
  <dcterms:created xsi:type="dcterms:W3CDTF">2025-02-15T19:14:58Z</dcterms:created>
  <dcterms:modified xsi:type="dcterms:W3CDTF">2025-06-17T05:29:29Z</dcterms:modified>
</cp:coreProperties>
</file>