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81" r:id="rId2"/>
    <p:sldId id="257" r:id="rId3"/>
    <p:sldId id="276" r:id="rId4"/>
    <p:sldId id="258" r:id="rId5"/>
    <p:sldId id="259" r:id="rId6"/>
    <p:sldId id="260" r:id="rId7"/>
    <p:sldId id="278" r:id="rId8"/>
    <p:sldId id="279" r:id="rId9"/>
    <p:sldId id="280" r:id="rId10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3FF"/>
    <a:srgbClr val="00002E"/>
    <a:srgbClr val="DA33BF"/>
    <a:srgbClr val="018CE1"/>
    <a:srgbClr val="2D4DF2"/>
    <a:srgbClr val="E9E9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07644C-8320-4FB8-99E6-80ED9FD40914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48277C7-0294-45EE-B514-C439D2FE61B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95619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180815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44733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разработки было использовано</a:t>
            </a:r>
            <a:r>
              <a:rPr lang="en-US" dirty="0"/>
              <a:t>:</a:t>
            </a:r>
          </a:p>
          <a:p>
            <a:r>
              <a:rPr lang="ru-RU" dirty="0"/>
              <a:t>Для серверной части</a:t>
            </a:r>
            <a:r>
              <a:rPr lang="en-US" dirty="0"/>
              <a:t>:</a:t>
            </a:r>
            <a:br>
              <a:rPr lang="en-US" dirty="0"/>
            </a:b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Laravel 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— PHP 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веб-фреймворк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 c 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архитектурной модели 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MVC (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модель-представление-контроллер</a:t>
            </a:r>
            <a:r>
              <a:rPr lang="en-US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ru-RU" b="0" i="0" dirty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r>
              <a:rPr lang="en-US" b="1" dirty="0" err="1"/>
              <a:t>MySql</a:t>
            </a:r>
            <a:r>
              <a:rPr lang="en-US" dirty="0"/>
              <a:t> - </a:t>
            </a:r>
            <a:r>
              <a:rPr lang="ru-RU" dirty="0"/>
              <a:t>реляционная система управления базами данных</a:t>
            </a: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PHP </a:t>
            </a:r>
            <a:r>
              <a:rPr lang="en-US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— </a:t>
            </a:r>
            <a:r>
              <a:rPr lang="ru-RU" b="0" i="0" dirty="0" err="1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Cи</a:t>
            </a:r>
            <a:r>
              <a:rPr lang="ru-RU" b="0" i="0" dirty="0">
                <a:solidFill>
                  <a:srgbClr val="BDC1C6"/>
                </a:solidFill>
                <a:effectLst/>
                <a:latin typeface="arial" panose="020B0604020202020204" pitchFamily="34" charset="0"/>
              </a:rPr>
              <a:t>-подобный скриптовый язык общего назначения.</a:t>
            </a:r>
            <a:endParaRPr lang="en-US" b="0" i="0" dirty="0">
              <a:solidFill>
                <a:srgbClr val="BDC1C6"/>
              </a:solidFill>
              <a:effectLst/>
              <a:latin typeface="arial" panose="020B0604020202020204" pitchFamily="34" charset="0"/>
            </a:endParaRP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0681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СЕРВИС СИНХРОНИЗАЦИИ КАРТИНОК «</a:t>
            </a:r>
            <a:r>
              <a:rPr lang="en-US" dirty="0"/>
              <a:t>PICSYNC»</a:t>
            </a:r>
            <a:r>
              <a:rPr lang="ru-RU" dirty="0"/>
              <a:t> сам по себе самобытен и мог бы обойтись без административной части, но раз уж есть функция делиться альбомами и картинками, то такой материал необходимо модерировать, в следствие чего был разработан следующий функционал администратора, включающий в себя настройку параметров сервера, работу с жалобами, а также выдачей предупреждений, удаление контента.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002884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F3C27B-F452-9D80-2CC1-72D58A5B6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088E6D22-7469-738D-532E-737C55CCDE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A535C7DC-337D-E96A-92DE-F610214176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представлена концептуальная модель БД.</a:t>
            </a:r>
          </a:p>
          <a:p>
            <a:r>
              <a:rPr lang="ru-RU" dirty="0"/>
              <a:t>Для администрирования контента в БД были добавлены следующие сущности и атрибуты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у пользователя такие поля как – состояние бана, количество жалоб</a:t>
            </a:r>
            <a:br>
              <a:rPr lang="ru-RU" dirty="0"/>
            </a:br>
            <a:r>
              <a:rPr lang="ru-RU" dirty="0"/>
              <a:t>а также так</a:t>
            </a:r>
            <a:r>
              <a:rPr lang="en-US" dirty="0"/>
              <a:t> </a:t>
            </a:r>
            <a:r>
              <a:rPr lang="ru-RU" dirty="0"/>
              <a:t>же сущности жалоба, тип жалобы, предупреждения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F6C3E69-98B5-40CB-C967-7F56995426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701331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AE5CE5-0D27-1160-C51F-0D4FC46E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82EE2052-BA10-634F-6CC8-318174EA8D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856D6A82-E0E8-6B79-4CDA-436A71601E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представлена концептуальная модель БД.</a:t>
            </a:r>
          </a:p>
          <a:p>
            <a:r>
              <a:rPr lang="ru-RU" dirty="0"/>
              <a:t>Для администрирования контента в БД были добавлены следующие сущности и атрибуты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у пользователя такие поля как – состояние бана, количество жалоб</a:t>
            </a:r>
            <a:br>
              <a:rPr lang="ru-RU" dirty="0"/>
            </a:br>
            <a:r>
              <a:rPr lang="ru-RU" dirty="0"/>
              <a:t>а также так</a:t>
            </a:r>
            <a:r>
              <a:rPr lang="en-US" dirty="0"/>
              <a:t> </a:t>
            </a:r>
            <a:r>
              <a:rPr lang="ru-RU" dirty="0"/>
              <a:t>же сущности жалоба, тип жалобы, предупреждения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A696A41-28CF-37C8-2A78-06C7F95BE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686310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9BB27-8363-D5EF-FA4C-A08C906CB1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F8AAB16-2AA6-869C-35D0-CC054811BC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20B0C8B0-20B4-A14F-373A-B24B6E21C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На слайде представлена концептуальная модель БД.</a:t>
            </a:r>
          </a:p>
          <a:p>
            <a:r>
              <a:rPr lang="ru-RU" dirty="0"/>
              <a:t>Для администрирования контента в БД были добавлены следующие сущности и атрибуты</a:t>
            </a:r>
            <a:r>
              <a:rPr lang="en-US" dirty="0"/>
              <a:t>:</a:t>
            </a:r>
            <a:br>
              <a:rPr lang="en-US" dirty="0"/>
            </a:br>
            <a:r>
              <a:rPr lang="ru-RU" dirty="0"/>
              <a:t>у пользователя такие поля как – состояние бана, количество жалоб</a:t>
            </a:r>
            <a:br>
              <a:rPr lang="ru-RU" dirty="0"/>
            </a:br>
            <a:r>
              <a:rPr lang="ru-RU" dirty="0"/>
              <a:t>а также так</a:t>
            </a:r>
            <a:r>
              <a:rPr lang="en-US" dirty="0"/>
              <a:t> </a:t>
            </a:r>
            <a:r>
              <a:rPr lang="ru-RU" dirty="0"/>
              <a:t>же сущности жалоба, тип жалобы, предупреждения</a:t>
            </a:r>
          </a:p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8778CB1-16EB-943D-37B4-DFAA5EB6BA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3678612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EFE226-ACBC-C4EC-4098-557FE4914A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A1B9E6E0-7DAD-8E94-D918-F50E4C952B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4A04600B-5BA9-2FBD-E1D8-67A1373E71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Были разработаны </a:t>
            </a:r>
            <a:r>
              <a:rPr lang="ru-RU" dirty="0" err="1"/>
              <a:t>автотесты</a:t>
            </a:r>
            <a:r>
              <a:rPr lang="ru-RU" dirty="0"/>
              <a:t> для </a:t>
            </a:r>
            <a:r>
              <a:rPr lang="ru-RU" dirty="0" err="1"/>
              <a:t>апи</a:t>
            </a:r>
            <a:r>
              <a:rPr lang="ru-RU" dirty="0"/>
              <a:t> для проверки всех методов, результат можете видеть на слайде, не все тесты прошли успешны</a:t>
            </a:r>
            <a:br>
              <a:rPr lang="ru-RU" dirty="0"/>
            </a:br>
            <a:r>
              <a:rPr lang="ru-RU" dirty="0"/>
              <a:t>Также в ручном режиме было протестировано мобильное приложение, в ходе которого были найдены некоторые баги, которые в скором времени были успешно устранены.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C2674CB0-7DA3-96EE-B3A4-7A7A9367021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F6195B2-C33F-4753-BF47-8E3460E1328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4358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850F300-A80C-EBAD-0573-C8F4C14897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05926ED0-6736-0FAB-D52F-D3AB8DFFB8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73F7A2C-8CDF-6855-82BE-39583E7DE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7AF5B73-0224-1DBA-FF14-51C6402AE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305AA2B-C15D-078E-EF39-8FCCFB0104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59740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386703-33D4-5156-28B9-0B39597FE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7B6CC1B-2581-1F0B-CF11-330CEFC4E4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4D762EF-1DC8-81F8-0E0A-9A7422847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7D04F52-122F-1C42-252B-A327B132D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DA04F9-82E7-B8AB-8CB4-E322E8DDD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7299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4ED58FC-D666-7001-B6A9-735EBAA56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A84F10B-3A7D-6F40-97AA-5C6E6E5D6F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69F60A-BA7B-EBC6-5C1C-E47C1030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0CA56A0-D085-C0D4-7FE3-E8AF709F6F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1302D93-1D4D-4BF0-5394-93A085EFD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11317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F803EEC-2E31-BB8A-9122-B6D879576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C8F30F-4460-0008-DEBA-A83C05B5FC0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C0D3E34-4E80-81DE-518F-9825511C20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4751E81-2189-386A-728A-09195273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42C103FC-A598-21D7-2D7B-A032256C3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D755CCB-A67F-E645-0D83-73F0E578E4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0975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14E8C4-7536-2324-A09E-C14DF3C84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8F40A2A-11ED-1B01-9BB1-B4C5A6E340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19AADC8F-BEB3-C1FE-7CB8-702F0633A0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2496F3ED-25A0-B305-D787-95E5872563C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CF7F370-923C-C23A-5B97-64C544E222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12165BC2-F4A6-EE2F-D0AF-AEDEA7770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713C4179-851E-1EE0-0E31-2C9F7DA7E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631AF7D6-965E-AA62-2E28-FAB0EAFA8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6760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E87685-1DF0-8855-5354-565B5A293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5072CC6-5699-0E65-6BCA-C2A96EF71F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13D9FA2C-7587-ADB1-B915-2D487E3BA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C6603810-C53E-F476-2A25-B05105AF3C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53705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60587EB-07A7-8ECF-B4B2-96ED3B145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E7F909D0-946C-D6D9-D3D9-D9F54475C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DD2F47-B020-042E-F7CF-283A7CF49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61247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305A1A-A205-F620-F7BC-0CDF7E095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E51AE2C-E1C2-2411-6F80-8148CDF6E2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A383871-DD85-FB81-84E5-A6EBDF4F04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DDDA6F17-2346-BF1E-7F51-21B8825B81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1D4C6F6-7E1D-86DE-DB8D-E50FB60C6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0D70DF9C-EAE7-B2DF-76CC-9DC0E49DD7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78835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9EDD12-417F-FC6A-5FC1-F1198A634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2FADD570-B065-D40D-5D79-BBA76117B8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47C8012-BDAC-76F4-7100-D98DECD4FCE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04001E3-A9D4-F152-1DC1-6C7408C1FB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26F6DBB-2D5C-C595-CB6E-FE99538EF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42EEE46B-EB13-2DE3-E5BB-85FD2AC07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444675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835FE6-A4C8-67C5-2DA1-CA081FAFEA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8779C65-ADE1-8307-F16D-04C7A39F57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CCEE1B5-362D-B83A-596C-354D5AF196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F0D8A0-0F5A-C669-D1A0-3EF0D060E3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FE54A1-8419-E470-CD3A-63316561E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6823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DCA906-077F-FFED-6F21-1590C6BBA1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5BCDFBF-C93B-ED7A-8882-B09086DB21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52BEB87-3E3E-FC2E-B2C2-D3F7F3BC30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0D506C-35EF-61CB-B7AA-ED274695C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6F2DD5D-B47D-866D-BCB1-A03C1F284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287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C68A7CB-83F1-1BFC-5E36-7A3A7E6A5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8D0FE96-AEAE-BBB6-E5F7-B27736BC6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3E45719-F15B-B101-8EAE-130DD209B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617D77-4494-4A0C-9895-F260F09C219D}" type="datetimeFigureOut">
              <a:rPr lang="ru-RU" smtClean="0"/>
              <a:t>22.06.2025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3923755-0A0F-4BF9-6F57-1FA39BB58C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5E62E84-B01C-8917-74EA-7D7AE9647A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BF083-1A25-4FD0-952B-A57008975C8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06383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EA89EB8-D32C-20C2-31F5-075FB8F95C7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085" y="251849"/>
            <a:ext cx="1826868" cy="1108820"/>
          </a:xfrm>
          <a:prstGeom prst="rect">
            <a:avLst/>
          </a:prstGeom>
          <a:scene3d>
            <a:camera prst="orthographicFront"/>
            <a:lightRig rig="threePt" dir="t"/>
          </a:scene3d>
          <a:sp3d prstMaterial="flat">
            <a:extrusionClr>
              <a:schemeClr val="bg1"/>
            </a:extrusionClr>
            <a:contourClr>
              <a:schemeClr val="bg1"/>
            </a:contourClr>
          </a:sp3d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AE7A7F90-3546-A12C-838B-4E89BC08CC3E}"/>
              </a:ext>
            </a:extLst>
          </p:cNvPr>
          <p:cNvSpPr txBox="1"/>
          <p:nvPr/>
        </p:nvSpPr>
        <p:spPr>
          <a:xfrm>
            <a:off x="3017044" y="1772335"/>
            <a:ext cx="615791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2E"/>
                </a:solidFill>
                <a:latin typeface="PT Sans" panose="020B0503020203020204" pitchFamily="34" charset="-52"/>
              </a:rPr>
              <a:t>ПРОЕКТИРОВАНИЕ И РАЗРАБОТКА </a:t>
            </a:r>
            <a:endParaRPr lang="en-US" sz="2000" dirty="0">
              <a:solidFill>
                <a:srgbClr val="00002E"/>
              </a:solidFill>
              <a:latin typeface="PT Sans" panose="020B0503020203020204" pitchFamily="34" charset="-52"/>
            </a:endParaRPr>
          </a:p>
          <a:p>
            <a:pPr algn="ctr"/>
            <a:r>
              <a:rPr lang="ru-RU" sz="2000" dirty="0">
                <a:solidFill>
                  <a:srgbClr val="00002E"/>
                </a:solidFill>
                <a:latin typeface="PT Sans" panose="020B0503020203020204" pitchFamily="34" charset="-52"/>
              </a:rPr>
              <a:t>СЕРВИСА ИГРОВЫХ СОХРАНЕНИЙ «P</a:t>
            </a:r>
            <a:r>
              <a:rPr lang="en-US" sz="2000" dirty="0" err="1">
                <a:solidFill>
                  <a:srgbClr val="00002E"/>
                </a:solidFill>
                <a:latin typeface="PT Sans" panose="020B0503020203020204" pitchFamily="34" charset="-52"/>
              </a:rPr>
              <a:t>laySaveBack</a:t>
            </a:r>
            <a:r>
              <a:rPr lang="ru-RU" sz="2000" dirty="0">
                <a:solidFill>
                  <a:srgbClr val="00002E"/>
                </a:solidFill>
                <a:latin typeface="PT Sans" panose="020B0503020203020204" pitchFamily="34" charset="-52"/>
              </a:rPr>
              <a:t>»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D6C04A-0B80-2183-B508-141EF826D425}"/>
              </a:ext>
            </a:extLst>
          </p:cNvPr>
          <p:cNvSpPr txBox="1"/>
          <p:nvPr/>
        </p:nvSpPr>
        <p:spPr>
          <a:xfrm>
            <a:off x="3017044" y="2755598"/>
            <a:ext cx="615791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2E"/>
                </a:solidFill>
                <a:latin typeface="PT Sans" panose="020B0503020203020204" pitchFamily="34" charset="-52"/>
              </a:rPr>
              <a:t>ДИПЛОМНЫЙ ПРОЕКТ 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DA7B231-1A49-E44F-513E-D7F26D55CC70}"/>
              </a:ext>
            </a:extLst>
          </p:cNvPr>
          <p:cNvSpPr/>
          <p:nvPr/>
        </p:nvSpPr>
        <p:spPr>
          <a:xfrm>
            <a:off x="9398195" y="4971089"/>
            <a:ext cx="268622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  <a:ea typeface="Arial Unicode MS" panose="020B0604020202020204" pitchFamily="34" charset="-128"/>
                <a:cs typeface="Times New Roman" panose="02020603050405020304" pitchFamily="18" charset="0"/>
              </a:rPr>
              <a:t>Выполнил:</a:t>
            </a:r>
          </a:p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  <a:ea typeface="Arial Unicode MS" panose="020B0604020202020204" pitchFamily="34" charset="-128"/>
                <a:cs typeface="Times New Roman" panose="02020603050405020304" pitchFamily="18" charset="0"/>
              </a:rPr>
              <a:t>Студент группы 1912с</a:t>
            </a:r>
            <a:r>
              <a:rPr lang="en-US" dirty="0">
                <a:solidFill>
                  <a:srgbClr val="00002E"/>
                </a:solidFill>
                <a:latin typeface="PT Sans" panose="020B0503020203020204" pitchFamily="34" charset="-52"/>
                <a:ea typeface="Arial Unicode MS" panose="020B0604020202020204" pitchFamily="34" charset="-128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rgbClr val="00002E"/>
              </a:solidFill>
              <a:latin typeface="PT Sans" panose="020B0503020203020204" pitchFamily="34" charset="-52"/>
              <a:ea typeface="Arial Unicode MS" panose="020B0604020202020204" pitchFamily="34" charset="-128"/>
              <a:cs typeface="Times New Roman" panose="02020603050405020304" pitchFamily="18" charset="0"/>
            </a:endParaRPr>
          </a:p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  <a:ea typeface="Arial Unicode MS" panose="020B0604020202020204" pitchFamily="34" charset="-128"/>
                <a:cs typeface="Times New Roman" panose="02020603050405020304" pitchFamily="18" charset="0"/>
              </a:rPr>
              <a:t>Заикин В.А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9915F50-D23C-19A8-B5DB-12A6AF808F84}"/>
              </a:ext>
            </a:extLst>
          </p:cNvPr>
          <p:cNvSpPr txBox="1"/>
          <p:nvPr/>
        </p:nvSpPr>
        <p:spPr>
          <a:xfrm>
            <a:off x="595312" y="3363739"/>
            <a:ext cx="1100137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solidFill>
                  <a:srgbClr val="00002E"/>
                </a:solidFill>
                <a:latin typeface="PT Sans" panose="020B0503020203020204" pitchFamily="34" charset="-52"/>
                <a:cs typeface="Times New Roman" panose="02020603050405020304" pitchFamily="18" charset="0"/>
              </a:rPr>
              <a:t>СПЕЦИАЛЬНОСТЬ 09.02.07 ИНФОРМАЦИОННЫЕ СИСТЕМЫ И ПРОГРАММИРОВАНИЕ </a:t>
            </a:r>
          </a:p>
        </p:txBody>
      </p:sp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19F22358-630D-F50F-2DAE-A31CEB9317F5}"/>
              </a:ext>
            </a:extLst>
          </p:cNvPr>
          <p:cNvSpPr txBox="1">
            <a:spLocks/>
          </p:cNvSpPr>
          <p:nvPr/>
        </p:nvSpPr>
        <p:spPr>
          <a:xfrm>
            <a:off x="1071281" y="190977"/>
            <a:ext cx="10049435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ОГБПОУ «ТОМСКИЙ ЭКОНОМИКО-ПРОМЫШЛЕННЫЙ КОЛЛЕДЖ»</a:t>
            </a:r>
            <a:endParaRPr lang="ru-RU" sz="3200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14583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36A74855-2ED8-BD17-F806-904025F54149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Актуальность проекта и проблематика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07C53810-237D-6C56-9DC1-ABE5ABC64D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945" b="20346"/>
          <a:stretch/>
        </p:blipFill>
        <p:spPr>
          <a:xfrm>
            <a:off x="6499411" y="1991253"/>
            <a:ext cx="5025899" cy="3729086"/>
          </a:xfrm>
          <a:prstGeom prst="roundRect">
            <a:avLst/>
          </a:prstGeom>
        </p:spPr>
      </p:pic>
      <p:sp>
        <p:nvSpPr>
          <p:cNvPr id="20" name="Прямоугольник: скругленные углы 19">
            <a:extLst>
              <a:ext uri="{FF2B5EF4-FFF2-40B4-BE49-F238E27FC236}">
                <a16:creationId xmlns:a16="http://schemas.microsoft.com/office/drawing/2014/main" id="{215002E5-7A2C-3C10-2F84-AFE18F2F5642}"/>
              </a:ext>
            </a:extLst>
          </p:cNvPr>
          <p:cNvSpPr/>
          <p:nvPr/>
        </p:nvSpPr>
        <p:spPr>
          <a:xfrm>
            <a:off x="591670" y="1108821"/>
            <a:ext cx="5316071" cy="1246094"/>
          </a:xfrm>
          <a:prstGeom prst="roundRect">
            <a:avLst/>
          </a:prstGeom>
          <a:noFill/>
          <a:ln w="19050">
            <a:solidFill>
              <a:srgbClr val="2D4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EBB5B7-4090-5BE5-2B84-263B8D68F080}"/>
              </a:ext>
            </a:extLst>
          </p:cNvPr>
          <p:cNvSpPr txBox="1"/>
          <p:nvPr/>
        </p:nvSpPr>
        <p:spPr>
          <a:xfrm>
            <a:off x="824754" y="1216396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Проблема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64BFE3B-604D-0759-56ED-B564E7322EE6}"/>
              </a:ext>
            </a:extLst>
          </p:cNvPr>
          <p:cNvSpPr txBox="1"/>
          <p:nvPr/>
        </p:nvSpPr>
        <p:spPr>
          <a:xfrm>
            <a:off x="824754" y="1637312"/>
            <a:ext cx="500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PT Sans" panose="020B0503020203020204" pitchFamily="34" charset="-52"/>
              </a:rPr>
              <a:t>Не хватает удобных инструментов для работы с сохранениями.</a:t>
            </a:r>
          </a:p>
        </p:txBody>
      </p:sp>
      <p:sp>
        <p:nvSpPr>
          <p:cNvPr id="23" name="Прямоугольник: скругленные углы 22">
            <a:extLst>
              <a:ext uri="{FF2B5EF4-FFF2-40B4-BE49-F238E27FC236}">
                <a16:creationId xmlns:a16="http://schemas.microsoft.com/office/drawing/2014/main" id="{64CFB0B8-15CC-099E-20F0-07BFFA24E856}"/>
              </a:ext>
            </a:extLst>
          </p:cNvPr>
          <p:cNvSpPr/>
          <p:nvPr/>
        </p:nvSpPr>
        <p:spPr>
          <a:xfrm>
            <a:off x="591670" y="2534209"/>
            <a:ext cx="5316071" cy="1246094"/>
          </a:xfrm>
          <a:prstGeom prst="roundRect">
            <a:avLst/>
          </a:prstGeom>
          <a:noFill/>
          <a:ln w="19050">
            <a:solidFill>
              <a:srgbClr val="018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5487428-7155-55D4-BD68-2676E3625695}"/>
              </a:ext>
            </a:extLst>
          </p:cNvPr>
          <p:cNvSpPr txBox="1"/>
          <p:nvPr/>
        </p:nvSpPr>
        <p:spPr>
          <a:xfrm>
            <a:off x="824754" y="2641784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Ограничения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E126E16-38BE-E2A7-BFCE-7F3FE0B9B3A8}"/>
              </a:ext>
            </a:extLst>
          </p:cNvPr>
          <p:cNvSpPr txBox="1"/>
          <p:nvPr/>
        </p:nvSpPr>
        <p:spPr>
          <a:xfrm>
            <a:off x="824754" y="3062700"/>
            <a:ext cx="500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PT Sans" panose="020B0503020203020204" pitchFamily="34" charset="-52"/>
              </a:rPr>
              <a:t>Steam Cloud </a:t>
            </a:r>
            <a:r>
              <a:rPr lang="ru-RU" sz="2000" dirty="0">
                <a:latin typeface="PT Sans" panose="020B0503020203020204" pitchFamily="34" charset="-52"/>
              </a:rPr>
              <a:t>и подобные поддерживают не все игры и имеют мало опций.</a:t>
            </a:r>
          </a:p>
        </p:txBody>
      </p:sp>
      <p:sp>
        <p:nvSpPr>
          <p:cNvPr id="26" name="Прямоугольник: скругленные углы 25">
            <a:extLst>
              <a:ext uri="{FF2B5EF4-FFF2-40B4-BE49-F238E27FC236}">
                <a16:creationId xmlns:a16="http://schemas.microsoft.com/office/drawing/2014/main" id="{739CE002-C4B8-4EED-1994-5065532CEC78}"/>
              </a:ext>
            </a:extLst>
          </p:cNvPr>
          <p:cNvSpPr/>
          <p:nvPr/>
        </p:nvSpPr>
        <p:spPr>
          <a:xfrm>
            <a:off x="591670" y="3935931"/>
            <a:ext cx="5316071" cy="1246094"/>
          </a:xfrm>
          <a:prstGeom prst="roundRect">
            <a:avLst/>
          </a:prstGeom>
          <a:noFill/>
          <a:ln w="19050">
            <a:solidFill>
              <a:srgbClr val="DA33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1588F77-F742-2351-773C-D6D815D1AEE6}"/>
              </a:ext>
            </a:extLst>
          </p:cNvPr>
          <p:cNvSpPr txBox="1"/>
          <p:nvPr/>
        </p:nvSpPr>
        <p:spPr>
          <a:xfrm>
            <a:off x="824754" y="4043506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Решение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235F6-0370-E0A0-8740-A8D3DBECC9FF}"/>
              </a:ext>
            </a:extLst>
          </p:cNvPr>
          <p:cNvSpPr txBox="1"/>
          <p:nvPr/>
        </p:nvSpPr>
        <p:spPr>
          <a:xfrm>
            <a:off x="824754" y="4464422"/>
            <a:ext cx="500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PT Sans" panose="020B0503020203020204" pitchFamily="34" charset="-52"/>
              </a:rPr>
              <a:t>Хранение и синхронизация, управление версиями, обмен с другими игроками.</a:t>
            </a:r>
          </a:p>
        </p:txBody>
      </p:sp>
      <p:sp>
        <p:nvSpPr>
          <p:cNvPr id="29" name="Прямоугольник: скругленные углы 28">
            <a:extLst>
              <a:ext uri="{FF2B5EF4-FFF2-40B4-BE49-F238E27FC236}">
                <a16:creationId xmlns:a16="http://schemas.microsoft.com/office/drawing/2014/main" id="{F9B79216-ABBD-110F-6B4A-553D02523084}"/>
              </a:ext>
            </a:extLst>
          </p:cNvPr>
          <p:cNvSpPr/>
          <p:nvPr/>
        </p:nvSpPr>
        <p:spPr>
          <a:xfrm>
            <a:off x="591670" y="5337653"/>
            <a:ext cx="5316071" cy="1246094"/>
          </a:xfrm>
          <a:prstGeom prst="roundRect">
            <a:avLst/>
          </a:prstGeom>
          <a:noFill/>
          <a:ln w="19050">
            <a:solidFill>
              <a:srgbClr val="2D4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E3908479-F876-5AF0-888E-D6B3C67A5604}"/>
              </a:ext>
            </a:extLst>
          </p:cNvPr>
          <p:cNvSpPr txBox="1"/>
          <p:nvPr/>
        </p:nvSpPr>
        <p:spPr>
          <a:xfrm>
            <a:off x="824754" y="5445228"/>
            <a:ext cx="34155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Преимущества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C5508E1-C0B8-9550-B952-B2D32CAC3A02}"/>
              </a:ext>
            </a:extLst>
          </p:cNvPr>
          <p:cNvSpPr txBox="1"/>
          <p:nvPr/>
        </p:nvSpPr>
        <p:spPr>
          <a:xfrm>
            <a:off x="824754" y="5866144"/>
            <a:ext cx="500230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PT Sans" panose="020B0503020203020204" pitchFamily="34" charset="-52"/>
              </a:rPr>
              <a:t>Прогресс не теряется, можно вернуться к прошлой версии,  новые возможности</a:t>
            </a:r>
          </a:p>
        </p:txBody>
      </p:sp>
    </p:spTree>
    <p:extLst>
      <p:ext uri="{BB962C8B-B14F-4D97-AF65-F5344CB8AC3E}">
        <p14:creationId xmlns:p14="http://schemas.microsoft.com/office/powerpoint/2010/main" val="24474732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7CFB550-8CA6-C21E-4EA9-22F7F867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99728BD-1965-9C8E-B7DF-1DF4EBB8E109}"/>
              </a:ext>
            </a:extLst>
          </p:cNvPr>
          <p:cNvSpPr txBox="1"/>
          <p:nvPr/>
        </p:nvSpPr>
        <p:spPr>
          <a:xfrm>
            <a:off x="173027" y="1525103"/>
            <a:ext cx="540571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solidFill>
                  <a:srgbClr val="00002E"/>
                </a:solidFill>
                <a:latin typeface="PT Sans" panose="020B0503020203020204" pitchFamily="34" charset="-52"/>
              </a:rPr>
              <a:t>Спроектировать и разработать сервис игровых сохранений «</a:t>
            </a:r>
            <a:r>
              <a:rPr lang="en-US" sz="2400" dirty="0">
                <a:solidFill>
                  <a:srgbClr val="00002E"/>
                </a:solidFill>
                <a:latin typeface="PT Sans" panose="020B0503020203020204" pitchFamily="34" charset="-52"/>
              </a:rPr>
              <a:t>PlaySaveBack</a:t>
            </a:r>
            <a:r>
              <a:rPr lang="ru-RU" sz="2400" dirty="0">
                <a:solidFill>
                  <a:srgbClr val="00002E"/>
                </a:solidFill>
                <a:latin typeface="PT Sans" panose="020B0503020203020204" pitchFamily="34" charset="-52"/>
              </a:rPr>
              <a:t>»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9D7A2FEC-9986-3643-1F8E-AF0C7541D432}"/>
              </a:ext>
            </a:extLst>
          </p:cNvPr>
          <p:cNvSpPr/>
          <p:nvPr/>
        </p:nvSpPr>
        <p:spPr>
          <a:xfrm>
            <a:off x="5502357" y="1548141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2D4DF2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A3A5C2D-62D4-FF3F-937F-AF8AC1FC5198}"/>
              </a:ext>
            </a:extLst>
          </p:cNvPr>
          <p:cNvSpPr txBox="1"/>
          <p:nvPr/>
        </p:nvSpPr>
        <p:spPr>
          <a:xfrm>
            <a:off x="6389134" y="1686640"/>
            <a:ext cx="54684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Спроектировать и реализовать базу данных для сервиса с использованием СУБД </a:t>
            </a:r>
            <a:r>
              <a:rPr lang="ru-RU" dirty="0" err="1">
                <a:solidFill>
                  <a:srgbClr val="00002E"/>
                </a:solidFill>
                <a:latin typeface="PT Sans" panose="020B0503020203020204" pitchFamily="34" charset="-52"/>
              </a:rPr>
              <a:t>SQLite</a:t>
            </a:r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.</a:t>
            </a:r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CF045108-BF5E-64D1-3507-A1EF0B78B560}"/>
              </a:ext>
            </a:extLst>
          </p:cNvPr>
          <p:cNvSpPr/>
          <p:nvPr/>
        </p:nvSpPr>
        <p:spPr>
          <a:xfrm>
            <a:off x="5502357" y="2356009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018CE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02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0C4AE15-197A-A2E7-53B9-C5DEA6B5898C}"/>
              </a:ext>
            </a:extLst>
          </p:cNvPr>
          <p:cNvSpPr txBox="1"/>
          <p:nvPr/>
        </p:nvSpPr>
        <p:spPr>
          <a:xfrm>
            <a:off x="6389134" y="2494508"/>
            <a:ext cx="49960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Разработать API сервиса на основе фреймворка </a:t>
            </a:r>
            <a:r>
              <a:rPr lang="ru-RU" dirty="0" err="1">
                <a:solidFill>
                  <a:srgbClr val="00002E"/>
                </a:solidFill>
                <a:latin typeface="PT Sans" panose="020B0503020203020204" pitchFamily="34" charset="-52"/>
              </a:rPr>
              <a:t>Laravel</a:t>
            </a:r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 12.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B12E5C3E-9F7E-38BD-B858-716F98A9F686}"/>
              </a:ext>
            </a:extLst>
          </p:cNvPr>
          <p:cNvSpPr/>
          <p:nvPr/>
        </p:nvSpPr>
        <p:spPr>
          <a:xfrm>
            <a:off x="5502357" y="3163877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DA33B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03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0FD77A5-0CFD-DFE8-047D-450B7A685570}"/>
              </a:ext>
            </a:extLst>
          </p:cNvPr>
          <p:cNvSpPr txBox="1"/>
          <p:nvPr/>
        </p:nvSpPr>
        <p:spPr>
          <a:xfrm>
            <a:off x="6389135" y="3302376"/>
            <a:ext cx="499604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Создать десктопное приложение для клиента с использованием платформы </a:t>
            </a:r>
            <a:r>
              <a:rPr lang="ru-RU" dirty="0" err="1">
                <a:solidFill>
                  <a:srgbClr val="00002E"/>
                </a:solidFill>
                <a:latin typeface="PT Sans" panose="020B0503020203020204" pitchFamily="34" charset="-52"/>
              </a:rPr>
              <a:t>WinUI</a:t>
            </a:r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 3.</a:t>
            </a:r>
          </a:p>
        </p:txBody>
      </p:sp>
      <p:sp>
        <p:nvSpPr>
          <p:cNvPr id="22" name="Прямоугольник 21">
            <a:extLst>
              <a:ext uri="{FF2B5EF4-FFF2-40B4-BE49-F238E27FC236}">
                <a16:creationId xmlns:a16="http://schemas.microsoft.com/office/drawing/2014/main" id="{4399ABEA-062A-2AFC-7CE4-5A35C8B87DB2}"/>
              </a:ext>
            </a:extLst>
          </p:cNvPr>
          <p:cNvSpPr/>
          <p:nvPr/>
        </p:nvSpPr>
        <p:spPr>
          <a:xfrm>
            <a:off x="5502357" y="3942829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2D4DF2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B4B67AD-5FA8-C73E-0AEB-EDC565CEEDB7}"/>
              </a:ext>
            </a:extLst>
          </p:cNvPr>
          <p:cNvSpPr txBox="1"/>
          <p:nvPr/>
        </p:nvSpPr>
        <p:spPr>
          <a:xfrm>
            <a:off x="6389134" y="4110244"/>
            <a:ext cx="57042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Реализовать автоматизированное тестирование API с помощью </a:t>
            </a:r>
            <a:r>
              <a:rPr lang="ru-RU" dirty="0" err="1">
                <a:solidFill>
                  <a:srgbClr val="00002E"/>
                </a:solidFill>
                <a:latin typeface="PT Sans" panose="020B0503020203020204" pitchFamily="34" charset="-52"/>
              </a:rPr>
              <a:t>Postman</a:t>
            </a:r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 и проверить его функциональность.</a:t>
            </a:r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C87A3260-E505-6990-38BF-B50AFF773F69}"/>
              </a:ext>
            </a:extLst>
          </p:cNvPr>
          <p:cNvSpPr/>
          <p:nvPr/>
        </p:nvSpPr>
        <p:spPr>
          <a:xfrm>
            <a:off x="5502357" y="4683014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018CE1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979A617-0C20-8E22-2226-02B7FCF87987}"/>
              </a:ext>
            </a:extLst>
          </p:cNvPr>
          <p:cNvSpPr txBox="1"/>
          <p:nvPr/>
        </p:nvSpPr>
        <p:spPr>
          <a:xfrm>
            <a:off x="6389134" y="4821513"/>
            <a:ext cx="580286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Разработать сценарии ручного тестирования десктопного приложения и провести тестирование вручную.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567229B6-ACE7-B0C5-0A20-1C92497ED8A5}"/>
              </a:ext>
            </a:extLst>
          </p:cNvPr>
          <p:cNvSpPr/>
          <p:nvPr/>
        </p:nvSpPr>
        <p:spPr>
          <a:xfrm>
            <a:off x="5502357" y="560321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dirty="0">
                <a:ln w="10160">
                  <a:solidFill>
                    <a:srgbClr val="DA33B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0</a:t>
            </a:r>
            <a:r>
              <a:rPr lang="en-US" sz="5400" b="1" dirty="0">
                <a:ln w="10160">
                  <a:solidFill>
                    <a:srgbClr val="DA33B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PT Sans" panose="020B0503020203020204" pitchFamily="34" charset="-52"/>
              </a:rPr>
              <a:t>6</a:t>
            </a:r>
            <a:endParaRPr lang="ru-RU" sz="5400" b="1" dirty="0">
              <a:ln w="10160">
                <a:solidFill>
                  <a:srgbClr val="DA33BF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PT Sans" panose="020B0503020203020204" pitchFamily="34" charset="-52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39398A3-65C3-CAB8-0931-AD96BB217A5C}"/>
              </a:ext>
            </a:extLst>
          </p:cNvPr>
          <p:cNvSpPr txBox="1"/>
          <p:nvPr/>
        </p:nvSpPr>
        <p:spPr>
          <a:xfrm>
            <a:off x="6389135" y="5744843"/>
            <a:ext cx="580286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00002E"/>
                </a:solidFill>
                <a:latin typeface="PT Sans" panose="020B0503020203020204" pitchFamily="34" charset="-52"/>
              </a:rPr>
              <a:t>Подготовить руководство пользователя для работы с десктопным приложением. </a:t>
            </a: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917D756-DD70-DB98-1604-24E752132E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825" y="2683928"/>
            <a:ext cx="3707246" cy="3707246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C3CA3D65-701D-60B9-AF80-FE95285B904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Цель и задачи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2432859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4EA5FA9-7138-BB2D-F31E-949FCCAC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16ED7A08-24AA-4336-FCA5-B05A4C6ADF00}"/>
              </a:ext>
            </a:extLst>
          </p:cNvPr>
          <p:cNvSpPr/>
          <p:nvPr/>
        </p:nvSpPr>
        <p:spPr>
          <a:xfrm>
            <a:off x="278176" y="2757624"/>
            <a:ext cx="5040429" cy="3777821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18D06F64-3264-37E9-55C7-701990A3396A}"/>
              </a:ext>
            </a:extLst>
          </p:cNvPr>
          <p:cNvSpPr/>
          <p:nvPr/>
        </p:nvSpPr>
        <p:spPr>
          <a:xfrm>
            <a:off x="5877962" y="2886319"/>
            <a:ext cx="5040429" cy="2532704"/>
          </a:xfrm>
          <a:prstGeom prst="round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5" name="Объект 11">
            <a:extLst>
              <a:ext uri="{FF2B5EF4-FFF2-40B4-BE49-F238E27FC236}">
                <a16:creationId xmlns:a16="http://schemas.microsoft.com/office/drawing/2014/main" id="{B81E3C77-5F52-44EC-AFCA-981D7583E82E}"/>
              </a:ext>
            </a:extLst>
          </p:cNvPr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9349" y="3029212"/>
            <a:ext cx="2046954" cy="1058769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021C65F-7401-409B-87D5-C90E7CB9C01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465531" y="2964981"/>
            <a:ext cx="1259913" cy="1310309"/>
          </a:xfrm>
          <a:prstGeom prst="rect">
            <a:avLst/>
          </a:prstGeom>
        </p:spPr>
      </p:pic>
      <p:pic>
        <p:nvPicPr>
          <p:cNvPr id="1040" name="Picture 16" descr="C#&quot; Icon - Download for free – Iconduck">
            <a:extLst>
              <a:ext uri="{FF2B5EF4-FFF2-40B4-BE49-F238E27FC236}">
                <a16:creationId xmlns:a16="http://schemas.microsoft.com/office/drawing/2014/main" id="{39059D35-B27E-E98A-6B85-D2E4962C28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78563" y="3147562"/>
            <a:ext cx="1671420" cy="18808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CECD48-353E-9F47-B72D-962A44B69CE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514351" y="4275290"/>
            <a:ext cx="2163904" cy="216390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5078792-3999-6242-C545-DE7391514D15}"/>
              </a:ext>
            </a:extLst>
          </p:cNvPr>
          <p:cNvSpPr txBox="1"/>
          <p:nvPr/>
        </p:nvSpPr>
        <p:spPr>
          <a:xfrm>
            <a:off x="800551" y="1770175"/>
            <a:ext cx="32183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Nunito" pitchFamily="2" charset="-52"/>
              </a:rPr>
              <a:t>Серверная часть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C8060DC-3C53-19CE-BE08-8763D9BC3274}"/>
              </a:ext>
            </a:extLst>
          </p:cNvPr>
          <p:cNvSpPr txBox="1"/>
          <p:nvPr/>
        </p:nvSpPr>
        <p:spPr>
          <a:xfrm>
            <a:off x="6096000" y="1770175"/>
            <a:ext cx="48223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Nunito" pitchFamily="2" charset="-52"/>
              </a:rPr>
              <a:t>Десктопное приложение</a:t>
            </a:r>
          </a:p>
        </p:txBody>
      </p:sp>
      <p:pic>
        <p:nvPicPr>
          <p:cNvPr id="1030" name="Picture 6" descr="WinUI logo">
            <a:extLst>
              <a:ext uri="{FF2B5EF4-FFF2-40B4-BE49-F238E27FC236}">
                <a16:creationId xmlns:a16="http://schemas.microsoft.com/office/drawing/2014/main" id="{5F77B9A8-3847-95D6-F7B2-6223BF74EC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87833" y="3277230"/>
            <a:ext cx="1621502" cy="1621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C9D81D63-775F-F863-4CCD-69BFD6DCB998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Технологический стек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470528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11A0DE-158D-445C-EBE4-DEBB199B7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EE3C43FF-1AA1-6434-C779-E54BED5CFEEF}"/>
              </a:ext>
            </a:extLst>
          </p:cNvPr>
          <p:cNvSpPr/>
          <p:nvPr/>
        </p:nvSpPr>
        <p:spPr>
          <a:xfrm>
            <a:off x="644026" y="1721224"/>
            <a:ext cx="3551456" cy="1828800"/>
          </a:xfrm>
          <a:prstGeom prst="roundRect">
            <a:avLst/>
          </a:prstGeom>
          <a:noFill/>
          <a:ln w="19050">
            <a:solidFill>
              <a:srgbClr val="2D4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7FAC67-91C3-7F53-D9E5-383C100EBE8E}"/>
              </a:ext>
            </a:extLst>
          </p:cNvPr>
          <p:cNvSpPr txBox="1"/>
          <p:nvPr/>
        </p:nvSpPr>
        <p:spPr>
          <a:xfrm>
            <a:off x="742636" y="1828801"/>
            <a:ext cx="32645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solidFill>
                  <a:srgbClr val="F8FAFF"/>
                </a:solidFill>
                <a:effectLst/>
                <a:latin typeface="quote-cjk-patch"/>
              </a:rPr>
              <a:t>🔐</a:t>
            </a:r>
            <a:r>
              <a:rPr lang="ru-RU" sz="2400" b="1" dirty="0">
                <a:latin typeface="Nunito" pitchFamily="2" charset="-52"/>
              </a:rPr>
              <a:t>Аутентификация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838179D9-7541-BC3A-03AA-94BB76B9C27C}"/>
              </a:ext>
            </a:extLst>
          </p:cNvPr>
          <p:cNvSpPr/>
          <p:nvPr/>
        </p:nvSpPr>
        <p:spPr>
          <a:xfrm>
            <a:off x="4445064" y="1721224"/>
            <a:ext cx="3551456" cy="1828800"/>
          </a:xfrm>
          <a:prstGeom prst="roundRect">
            <a:avLst/>
          </a:prstGeom>
          <a:noFill/>
          <a:ln w="19050">
            <a:solidFill>
              <a:srgbClr val="018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7ED80B-FB67-D0F0-AA71-5C51DB24868B}"/>
              </a:ext>
            </a:extLst>
          </p:cNvPr>
          <p:cNvSpPr txBox="1"/>
          <p:nvPr/>
        </p:nvSpPr>
        <p:spPr>
          <a:xfrm>
            <a:off x="4543675" y="1828801"/>
            <a:ext cx="28059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i="0" dirty="0">
                <a:solidFill>
                  <a:srgbClr val="F8FAFF"/>
                </a:solidFill>
                <a:effectLst/>
                <a:latin typeface="quote-cjk-patch"/>
              </a:rPr>
              <a:t>🕹️</a:t>
            </a:r>
            <a:r>
              <a:rPr lang="ru-RU" sz="2400" b="1" i="0" dirty="0">
                <a:solidFill>
                  <a:srgbClr val="F8FAFF"/>
                </a:solidFill>
                <a:effectLst/>
                <a:latin typeface="Nunito" pitchFamily="2" charset="-52"/>
              </a:rPr>
              <a:t> </a:t>
            </a:r>
            <a:r>
              <a:rPr lang="ru-RU" sz="2400" b="1" i="0" dirty="0">
                <a:solidFill>
                  <a:srgbClr val="00002E"/>
                </a:solidFill>
                <a:effectLst/>
                <a:latin typeface="Nunito" pitchFamily="2" charset="-52"/>
              </a:rPr>
              <a:t>Каталог игр</a:t>
            </a:r>
            <a:endParaRPr lang="ru-RU" sz="2400" b="1" i="0" dirty="0">
              <a:solidFill>
                <a:srgbClr val="00002E"/>
              </a:solidFill>
              <a:effectLst/>
              <a:latin typeface="quote-cjk-patch"/>
            </a:endParaRP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31D35617-9A7C-0918-E703-E4D27CC105F7}"/>
              </a:ext>
            </a:extLst>
          </p:cNvPr>
          <p:cNvSpPr/>
          <p:nvPr/>
        </p:nvSpPr>
        <p:spPr>
          <a:xfrm>
            <a:off x="8220635" y="1721224"/>
            <a:ext cx="3551456" cy="1828800"/>
          </a:xfrm>
          <a:prstGeom prst="roundRect">
            <a:avLst/>
          </a:prstGeom>
          <a:noFill/>
          <a:ln w="19050">
            <a:solidFill>
              <a:srgbClr val="DA33B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98EE7DA-5E0B-F6EB-58F4-F087EC90D5AD}"/>
              </a:ext>
            </a:extLst>
          </p:cNvPr>
          <p:cNvSpPr txBox="1"/>
          <p:nvPr/>
        </p:nvSpPr>
        <p:spPr>
          <a:xfrm>
            <a:off x="8246102" y="1828801"/>
            <a:ext cx="320326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🎮 Библиотека игр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834D1472-E30E-E33E-FF83-4AABA1D2C375}"/>
              </a:ext>
            </a:extLst>
          </p:cNvPr>
          <p:cNvSpPr/>
          <p:nvPr/>
        </p:nvSpPr>
        <p:spPr>
          <a:xfrm>
            <a:off x="644025" y="3899647"/>
            <a:ext cx="4806515" cy="1828800"/>
          </a:xfrm>
          <a:prstGeom prst="roundRect">
            <a:avLst/>
          </a:prstGeom>
          <a:noFill/>
          <a:ln w="19050">
            <a:solidFill>
              <a:srgbClr val="2D4DF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C63695-A19E-5354-51D8-33842E8C2597}"/>
              </a:ext>
            </a:extLst>
          </p:cNvPr>
          <p:cNvSpPr txBox="1"/>
          <p:nvPr/>
        </p:nvSpPr>
        <p:spPr>
          <a:xfrm>
            <a:off x="742636" y="4007224"/>
            <a:ext cx="47079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💾 Управление сохранениями</a:t>
            </a:r>
            <a:endParaRPr lang="ru-RU" b="1" dirty="0">
              <a:latin typeface="Nunito" pitchFamily="2" charset="-52"/>
            </a:endParaRPr>
          </a:p>
        </p:txBody>
      </p:sp>
      <p:sp>
        <p:nvSpPr>
          <p:cNvPr id="16" name="Прямоугольник: скругленные углы 15">
            <a:extLst>
              <a:ext uri="{FF2B5EF4-FFF2-40B4-BE49-F238E27FC236}">
                <a16:creationId xmlns:a16="http://schemas.microsoft.com/office/drawing/2014/main" id="{68E38991-06A9-4814-08B2-46C30112C186}"/>
              </a:ext>
            </a:extLst>
          </p:cNvPr>
          <p:cNvSpPr/>
          <p:nvPr/>
        </p:nvSpPr>
        <p:spPr>
          <a:xfrm>
            <a:off x="5709084" y="3899647"/>
            <a:ext cx="4806515" cy="1828800"/>
          </a:xfrm>
          <a:prstGeom prst="roundRect">
            <a:avLst/>
          </a:prstGeom>
          <a:noFill/>
          <a:ln w="19050">
            <a:solidFill>
              <a:srgbClr val="018CE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ln w="38100">
                <a:solidFill>
                  <a:schemeClr val="tx1"/>
                </a:solidFill>
              </a:ln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6EFAA7B-4F58-D0F8-D555-8801E71CE6DF}"/>
              </a:ext>
            </a:extLst>
          </p:cNvPr>
          <p:cNvSpPr txBox="1"/>
          <p:nvPr/>
        </p:nvSpPr>
        <p:spPr>
          <a:xfrm>
            <a:off x="5807696" y="4007224"/>
            <a:ext cx="4322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>
                <a:latin typeface="Nunito" pitchFamily="2" charset="-52"/>
              </a:rPr>
              <a:t>👤 Профиль и статистика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6D1CA3A-A7C8-5601-C7F6-364302AF7B25}"/>
              </a:ext>
            </a:extLst>
          </p:cNvPr>
          <p:cNvSpPr txBox="1"/>
          <p:nvPr/>
        </p:nvSpPr>
        <p:spPr>
          <a:xfrm>
            <a:off x="644026" y="2451832"/>
            <a:ext cx="355145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PT Sans" panose="020B0503020203020204" pitchFamily="34" charset="-52"/>
              </a:rPr>
              <a:t>Вход, выход,</a:t>
            </a:r>
            <a:r>
              <a:rPr lang="en-US" sz="2000" dirty="0">
                <a:latin typeface="PT Sans" panose="020B0503020203020204" pitchFamily="34" charset="-52"/>
              </a:rPr>
              <a:t> </a:t>
            </a:r>
            <a:r>
              <a:rPr lang="ru-RU" sz="2000" dirty="0">
                <a:latin typeface="PT Sans" panose="020B0503020203020204" pitchFamily="34" charset="-52"/>
              </a:rPr>
              <a:t>восстановление через </a:t>
            </a:r>
            <a:r>
              <a:rPr lang="en-US" sz="2000" dirty="0">
                <a:latin typeface="PT Sans" panose="020B0503020203020204" pitchFamily="34" charset="-52"/>
              </a:rPr>
              <a:t>email</a:t>
            </a:r>
            <a:r>
              <a:rPr lang="ru-RU" sz="2000" dirty="0">
                <a:latin typeface="PT Sans" panose="020B0503020203020204" pitchFamily="34" charset="-52"/>
              </a:rPr>
              <a:t> или ключ</a:t>
            </a:r>
            <a:r>
              <a:rPr lang="en-US" sz="2000" dirty="0">
                <a:latin typeface="PT Sans" panose="020B0503020203020204" pitchFamily="34" charset="-52"/>
              </a:rPr>
              <a:t>.</a:t>
            </a:r>
            <a:endParaRPr lang="ru-RU" sz="2000" dirty="0">
              <a:latin typeface="PT Sans" panose="020B0503020203020204" pitchFamily="34" charset="-52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D19537A-75B5-5333-1D93-2F70617351B9}"/>
              </a:ext>
            </a:extLst>
          </p:cNvPr>
          <p:cNvSpPr txBox="1"/>
          <p:nvPr/>
        </p:nvSpPr>
        <p:spPr>
          <a:xfrm>
            <a:off x="4445065" y="2450521"/>
            <a:ext cx="35514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PT Sans" panose="020B0503020203020204" pitchFamily="34" charset="-52"/>
              </a:rPr>
              <a:t>Полный список доступных игр и детальная информация о каждой.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43BCCA2-0130-01B1-F1AE-EF9D40CB9522}"/>
              </a:ext>
            </a:extLst>
          </p:cNvPr>
          <p:cNvSpPr txBox="1"/>
          <p:nvPr/>
        </p:nvSpPr>
        <p:spPr>
          <a:xfrm>
            <a:off x="8220635" y="2450520"/>
            <a:ext cx="344244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PT Sans" panose="020B0503020203020204" pitchFamily="34" charset="-52"/>
              </a:rPr>
              <a:t>Добавление, удаление,  переключение избранного, поддержка сторонних игр.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90DAA6E-62A1-CBC7-3F85-36435E978835}"/>
              </a:ext>
            </a:extLst>
          </p:cNvPr>
          <p:cNvSpPr txBox="1"/>
          <p:nvPr/>
        </p:nvSpPr>
        <p:spPr>
          <a:xfrm>
            <a:off x="644026" y="4576466"/>
            <a:ext cx="47079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PT Sans" panose="020B0503020203020204" pitchFamily="34" charset="-52"/>
              </a:rPr>
              <a:t>Облачное хранение, загрузка, восстановление, перезапись, удаление и обмен файлами сохранений.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45C9B48-5AA8-5F7A-CEA1-D33294DBE567}"/>
              </a:ext>
            </a:extLst>
          </p:cNvPr>
          <p:cNvSpPr txBox="1"/>
          <p:nvPr/>
        </p:nvSpPr>
        <p:spPr>
          <a:xfrm>
            <a:off x="5709084" y="4596702"/>
            <a:ext cx="47079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000" dirty="0">
                <a:latin typeface="PT Sans" panose="020B0503020203020204" pitchFamily="34" charset="-52"/>
              </a:rPr>
              <a:t>Просмотр и редактирование данных, игровая аналитика.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FC21C9AB-7DD6-89BD-9FD4-79FE49D3C180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Функциональные возможности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879942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4019A2-C1CC-CBB6-7423-503714A43D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B7D32B5-EA7D-C39A-8B37-D0E5CF78F4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2872" y="984987"/>
            <a:ext cx="8626256" cy="5763147"/>
          </a:xfrm>
          <a:prstGeom prst="round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9A13E035-EC8D-0A65-75C6-79B6089E02CF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Концептуальная модель БД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413438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755035-8CE6-EAD3-8471-505C6EFFF2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A9BA6D6-13BB-1B6A-C51D-547EEC27938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51" t="3" b="3"/>
          <a:stretch/>
        </p:blipFill>
        <p:spPr bwMode="auto">
          <a:xfrm>
            <a:off x="789273" y="1337912"/>
            <a:ext cx="10486518" cy="5005136"/>
          </a:xfrm>
          <a:prstGeom prst="round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FE02D21-8F42-5767-E223-A320E80E1047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Логическая модель БД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10088262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F0C655-1565-F063-FB80-712B776D7F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F05872-1060-72D5-98D5-993681B928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2779" t="-439" r="-2157" b="157"/>
          <a:stretch/>
        </p:blipFill>
        <p:spPr>
          <a:xfrm>
            <a:off x="635267" y="960120"/>
            <a:ext cx="10857296" cy="5682334"/>
          </a:xfrm>
          <a:prstGeom prst="roundRect">
            <a:avLst/>
          </a:prstGeom>
        </p:spPr>
      </p:pic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014A30DE-6CAE-2AC1-A480-7E1730FD8A1E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Физическая модель БД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2157214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3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1AD3F32-7FE4-09AC-6C8C-E0C6287D5A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776DFD0-7AAD-B471-3532-DE51DE5FA1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17544" y="1078833"/>
            <a:ext cx="6457371" cy="57263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5B6E06D-8F15-D01F-C53A-56B0C745D282}"/>
              </a:ext>
            </a:extLst>
          </p:cNvPr>
          <p:cNvSpPr txBox="1"/>
          <p:nvPr/>
        </p:nvSpPr>
        <p:spPr>
          <a:xfrm>
            <a:off x="616208" y="1436051"/>
            <a:ext cx="3893040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ru-RU" sz="2800" b="1" dirty="0">
                <a:latin typeface="Nunito" pitchFamily="2" charset="-52"/>
              </a:rPr>
              <a:t>Ключевые аспекты тестирования: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36D0A1D-B88A-0008-ABD7-3E783F9DD67B}"/>
              </a:ext>
            </a:extLst>
          </p:cNvPr>
          <p:cNvSpPr txBox="1"/>
          <p:nvPr/>
        </p:nvSpPr>
        <p:spPr>
          <a:xfrm>
            <a:off x="311407" y="2514758"/>
            <a:ext cx="4894731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latin typeface="PT Sans" panose="020B0503020203020204" pitchFamily="34" charset="-52"/>
              </a:rPr>
              <a:t>Корректность обработки запросов </a:t>
            </a:r>
            <a:endParaRPr lang="en-US" sz="2400" dirty="0">
              <a:latin typeface="PT Sans" panose="020B0503020203020204" pitchFamily="34" charset="-52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00B050"/>
                </a:solidFill>
                <a:latin typeface="PT Sans" panose="020B0503020203020204" pitchFamily="34" charset="-52"/>
              </a:rPr>
              <a:t>GET</a:t>
            </a:r>
            <a:endParaRPr lang="en-US" sz="2400" dirty="0">
              <a:solidFill>
                <a:srgbClr val="00B050"/>
              </a:solidFill>
              <a:latin typeface="PT Sans" panose="020B0503020203020204" pitchFamily="34" charset="-52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chemeClr val="accent4">
                    <a:lumMod val="75000"/>
                  </a:schemeClr>
                </a:solidFill>
                <a:latin typeface="PT Sans" panose="020B0503020203020204" pitchFamily="34" charset="-52"/>
              </a:rPr>
              <a:t>POST</a:t>
            </a:r>
            <a:endParaRPr lang="en-US" sz="2400" dirty="0">
              <a:solidFill>
                <a:schemeClr val="accent4">
                  <a:lumMod val="75000"/>
                </a:schemeClr>
              </a:solidFill>
              <a:latin typeface="PT Sans" panose="020B0503020203020204" pitchFamily="34" charset="-52"/>
            </a:endParaRPr>
          </a:p>
          <a:p>
            <a:pPr marL="742950" lvl="1" indent="-285750">
              <a:buFont typeface="Wingdings" panose="05000000000000000000" pitchFamily="2" charset="2"/>
              <a:buChar char="q"/>
            </a:pPr>
            <a:r>
              <a:rPr lang="ru-RU" sz="2400" dirty="0">
                <a:solidFill>
                  <a:srgbClr val="FF0000"/>
                </a:solidFill>
                <a:latin typeface="PT Sans" panose="020B0503020203020204" pitchFamily="34" charset="-52"/>
              </a:rPr>
              <a:t>DELETE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latin typeface="PT Sans" panose="020B0503020203020204" pitchFamily="34" charset="-52"/>
              </a:rPr>
              <a:t>Формат возвращаемых данных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latin typeface="PT Sans" panose="020B0503020203020204" pitchFamily="34" charset="-52"/>
              </a:rPr>
              <a:t>Обработка ошибок и валидации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ru-RU" sz="2400" dirty="0">
                <a:latin typeface="PT Sans" panose="020B0503020203020204" pitchFamily="34" charset="-52"/>
              </a:rPr>
              <a:t>Время отклика</a:t>
            </a:r>
            <a:endParaRPr lang="en-US" sz="2400" dirty="0">
              <a:latin typeface="PT Sans" panose="020B0503020203020204" pitchFamily="34" charset="-52"/>
            </a:endParaRPr>
          </a:p>
        </p:txBody>
      </p:sp>
      <p:sp>
        <p:nvSpPr>
          <p:cNvPr id="9" name="Заголовок 1">
            <a:extLst>
              <a:ext uri="{FF2B5EF4-FFF2-40B4-BE49-F238E27FC236}">
                <a16:creationId xmlns:a16="http://schemas.microsoft.com/office/drawing/2014/main" id="{77E7FDB0-F904-9C85-D957-D3788990E511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11088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b="1" dirty="0">
                <a:solidFill>
                  <a:srgbClr val="00002E"/>
                </a:solidFill>
                <a:latin typeface="Nunito" pitchFamily="2" charset="-52"/>
                <a:ea typeface="Tahoma" panose="020B0604030504040204" pitchFamily="34" charset="0"/>
                <a:cs typeface="Tahoma" panose="020B0604030504040204" pitchFamily="34" charset="0"/>
              </a:rPr>
              <a:t>Тестирование серверной части</a:t>
            </a:r>
            <a:endParaRPr lang="ru-RU" b="1" dirty="0">
              <a:solidFill>
                <a:srgbClr val="00002E"/>
              </a:solidFill>
              <a:latin typeface="Nunito" pitchFamily="2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39700129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562</Words>
  <Application>Microsoft Office PowerPoint</Application>
  <PresentationFormat>Широкоэкранный</PresentationFormat>
  <Paragraphs>77</Paragraphs>
  <Slides>9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8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8" baseType="lpstr">
      <vt:lpstr>Arial</vt:lpstr>
      <vt:lpstr>Arial</vt:lpstr>
      <vt:lpstr>Calibri</vt:lpstr>
      <vt:lpstr>Calibri Light</vt:lpstr>
      <vt:lpstr>Nunito</vt:lpstr>
      <vt:lpstr>PT Sans</vt:lpstr>
      <vt:lpstr>quote-cjk-patch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Inedible Scarf</dc:creator>
  <cp:lastModifiedBy>Inedible Scarf</cp:lastModifiedBy>
  <cp:revision>7</cp:revision>
  <dcterms:created xsi:type="dcterms:W3CDTF">2025-06-22T08:35:53Z</dcterms:created>
  <dcterms:modified xsi:type="dcterms:W3CDTF">2025-06-22T12:31:09Z</dcterms:modified>
</cp:coreProperties>
</file>